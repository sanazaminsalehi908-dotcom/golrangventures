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ه و چارچوب" id="{abd316c0-8ef4-ef25-25ac-f3f0964db26f}">
          <p14:sldIdLst>
            <p14:sldId id="256"/>
            <p14:sldId id="257"/>
            <p14:sldId id="258"/>
            <p14:sldId id="259"/>
          </p14:sldIdLst>
        </p14:section>
        <p14:section name="تجربه مهمان و فرایند" id="{0a37dde6-dafc-43d7-54dc-585465e73176}">
          <p14:sldIdLst>
            <p14:sldId id="260"/>
            <p14:sldId id="261"/>
            <p14:sldId id="262"/>
          </p14:sldIdLst>
        </p14:section>
        <p14:section name="تیم و منابع" id="{7459f9a3-95d0-d27b-8f96-fbfa037a2662}">
          <p14:sldIdLst>
            <p14:sldId id="263"/>
            <p14:sldId id="264"/>
            <p14:sldId id="265"/>
            <p14:sldId id="266"/>
          </p14:sldIdLst>
        </p14:section>
        <p14:section name="کنترل و گام بعدی" id="{007f08ad-1c22-34e0-c3ed-0aa4b769e2a6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اسلاید عنوان: طرح مدیریتی و نقشه اجرای رویداد تراست.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نمای کلی رویداد: مقیاس، مکان، هدف اجرایی و مالک اجرا.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2"/>
                </a:solidFill>
              </a:rPr>
              <a:t>TRUST EVENT  ·  MANAGEMENT DECK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0" y="6382512"/>
            <a:ext cx="7528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900" dirty="0">
                <a:solidFill>
                  <a:schemeClr val="accent3"/>
                </a:solidFill>
              </a:rPr>
              <a:t>نسخه اولیه مدیریتی  |  اطلاعات قطعی پس از تأیید تیم پروژه تکمیل می‌شود</a:t>
            </a:r>
            <a:endParaRPr lang="fa-IR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fa-IR" alt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endParaRPr lang="fa-I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 large"/>
          <p:cNvSpPr/>
          <p:nvPr/>
        </p:nvSpPr>
        <p:spPr>
          <a:xfrm>
            <a:off x="-1463040" y="914400"/>
            <a:ext cx="5852160" cy="585216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ring mid"/>
          <p:cNvSpPr/>
          <p:nvPr/>
        </p:nvSpPr>
        <p:spPr>
          <a:xfrm>
            <a:off x="-548640" y="1828800"/>
            <a:ext cx="4023360" cy="4023360"/>
          </a:xfrm>
          <a:prstGeom prst="ellipse">
            <a:avLst/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4" name="logo slot"/>
          <p:cNvSpPr/>
          <p:nvPr/>
        </p:nvSpPr>
        <p:spPr>
          <a:xfrm>
            <a:off x="320040" y="2697480"/>
            <a:ext cx="2286000" cy="228600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b="1" dirty="0">
                <a:solidFill>
                  <a:schemeClr val="bg1"/>
                </a:solidFill>
              </a:rPr>
              <a:t>لوگوی تراست</a:t>
            </a:r>
            <a:endParaRPr lang="fa-IR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000" dirty="0">
                <a:solidFill>
                  <a:schemeClr val="accent2"/>
                </a:solidFill>
              </a:rPr>
              <a:t>محل درج لوگو</a:t>
            </a:r>
            <a:endParaRPr lang="fa-IR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97280"/>
            <a:ext cx="68881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100" b="1" spc="200" kern="0" dirty="0">
                <a:solidFill>
                  <a:schemeClr val="accent2"/>
                </a:solidFill>
              </a:rPr>
              <a:t>TRUST EVENT  ·  MANAGEMENT PRESENTATION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737360"/>
            <a:ext cx="7802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4000" b="1" dirty="0">
                <a:solidFill>
                  <a:schemeClr val="bg1"/>
                </a:solidFill>
              </a:rPr>
              <a:t>طرح مدیریتی و نقشه اجرای</a:t>
            </a:r>
            <a:endParaRPr lang="fa-IR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560320"/>
            <a:ext cx="7802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4800" b="1" dirty="0">
                <a:solidFill>
                  <a:schemeClr val="accent2"/>
                </a:solidFill>
              </a:rPr>
              <a:t>رویداد تراست</a:t>
            </a:r>
            <a:endParaRPr lang="fa-IR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703320"/>
            <a:ext cx="7802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dirty="0">
                <a:solidFill>
                  <a:srgbClr val="D5DEE6"/>
                </a:solidFill>
              </a:rPr>
              <a:t>از طراحی تجربه مهمان تا کنترل عملیات روز رویداد</a:t>
            </a:r>
            <a:endParaRPr lang="fa-IR" sz="1800" dirty="0"/>
          </a:p>
        </p:txBody>
      </p:sp>
      <p:sp>
        <p:nvSpPr>
          <p:cNvPr id="11" name="chip ۱۴ اسلاید"/>
          <p:cNvSpPr/>
          <p:nvPr/>
        </p:nvSpPr>
        <p:spPr>
          <a:xfrm>
            <a:off x="10074859" y="4572000"/>
            <a:ext cx="1568196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4672584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212019" y="4572000"/>
            <a:ext cx="10012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bg1"/>
                </a:solidFill>
              </a:rPr>
              <a:t>۱۴ اسلاید</a:t>
            </a:r>
            <a:endParaRPr lang="fa-IR" sz="1200" dirty="0"/>
          </a:p>
        </p:txBody>
      </p:sp>
      <p:sp>
        <p:nvSpPr>
          <p:cNvPr id="14" name="chip ۵۰ تا ۱۰۰ مهمان"/>
          <p:cNvSpPr/>
          <p:nvPr/>
        </p:nvSpPr>
        <p:spPr>
          <a:xfrm>
            <a:off x="7747711" y="4572000"/>
            <a:ext cx="2144268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931" y="4672584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884871" y="4572000"/>
            <a:ext cx="15773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bg1"/>
                </a:solidFill>
              </a:rPr>
              <a:t>۵۰ تا ۱۰۰ مهمان</a:t>
            </a:r>
            <a:endParaRPr lang="fa-IR" sz="1200" dirty="0"/>
          </a:p>
        </p:txBody>
      </p:sp>
      <p:sp>
        <p:nvSpPr>
          <p:cNvPr id="17" name="chip نسخه اولیه"/>
          <p:cNvSpPr/>
          <p:nvPr/>
        </p:nvSpPr>
        <p:spPr>
          <a:xfrm>
            <a:off x="5900623" y="4572000"/>
            <a:ext cx="1664208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783" y="467258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037783" y="45720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bg1"/>
                </a:solidFill>
              </a:rPr>
              <a:t>نسخه اولیه</a:t>
            </a:r>
            <a:endParaRPr lang="fa-IR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840480" y="6355080"/>
            <a:ext cx="7802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000" dirty="0">
                <a:solidFill>
                  <a:srgbClr val="8FA3B5"/>
                </a:solidFill>
              </a:rPr>
              <a:t>نسخه اولیه  |  قابل تکمیل پس از نهایی‌شدن اطلاعات رویداد</a:t>
            </a:r>
            <a:endParaRPr lang="fa-I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نمای کلی رویداد  |  Event at a Glance</a:t>
            </a:r>
            <a:endParaRPr lang="fa-IR" sz="3000" dirty="0"/>
          </a:p>
        </p:txBody>
      </p:sp>
      <p:sp>
        <p:nvSpPr>
          <p:cNvPr id="3" name="glance card 1"/>
          <p:cNvSpPr/>
          <p:nvPr/>
        </p:nvSpPr>
        <p:spPr>
          <a:xfrm>
            <a:off x="9075191" y="1508760"/>
            <a:ext cx="2567864" cy="4206240"/>
          </a:xfrm>
          <a:prstGeom prst="roundRect">
            <a:avLst>
              <a:gd name="adj" fmla="val 427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" name="glance 1 circle"/>
          <p:cNvSpPr/>
          <p:nvPr/>
        </p:nvSpPr>
        <p:spPr>
          <a:xfrm>
            <a:off x="10591495" y="1874520"/>
            <a:ext cx="731520" cy="73152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5" name="glanc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7060" y="20500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49511" y="28346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2"/>
                </a:solidFill>
              </a:rPr>
              <a:t>مقیاس رویداد</a:t>
            </a:r>
            <a:endParaRPr lang="fa-IR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258071" y="329184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800" b="1" dirty="0">
                <a:solidFill>
                  <a:schemeClr val="bg1"/>
                </a:solidFill>
              </a:rPr>
              <a:t>۵۰–۱۰۰</a:t>
            </a:r>
            <a:endParaRPr lang="fa-IR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9349511" y="41148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rgbClr val="D5DEE6"/>
                </a:solidFill>
              </a:rPr>
              <a:t>مهمان</a:t>
            </a:r>
            <a:endParaRPr lang="fa-IR" sz="1400" dirty="0"/>
          </a:p>
        </p:txBody>
      </p:sp>
      <p:sp>
        <p:nvSpPr>
          <p:cNvPr id="9" name="Shape 6"/>
          <p:cNvSpPr/>
          <p:nvPr/>
        </p:nvSpPr>
        <p:spPr>
          <a:xfrm>
            <a:off x="9349511" y="4709160"/>
            <a:ext cx="2019224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49511" y="48463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AFC0CE"/>
                </a:solidFill>
              </a:rPr>
              <a:t>تعداد نهایی: نیازمند تأیید</a:t>
            </a:r>
            <a:endParaRPr lang="fa-IR" sz="1200" dirty="0"/>
          </a:p>
        </p:txBody>
      </p:sp>
      <p:sp>
        <p:nvSpPr>
          <p:cNvPr id="11" name="glance card 2"/>
          <p:cNvSpPr/>
          <p:nvPr/>
        </p:nvSpPr>
        <p:spPr>
          <a:xfrm>
            <a:off x="6233008" y="1508760"/>
            <a:ext cx="2567864" cy="42062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2" name="glance 2 circle"/>
          <p:cNvSpPr/>
          <p:nvPr/>
        </p:nvSpPr>
        <p:spPr>
          <a:xfrm>
            <a:off x="7749311" y="1874520"/>
            <a:ext cx="731520" cy="73152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13" name="glanc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76" y="205008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07328" y="28346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3"/>
                </a:solidFill>
              </a:rPr>
              <a:t>مکان</a:t>
            </a:r>
            <a:endParaRPr lang="fa-IR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15888" y="329184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tx2"/>
                </a:solidFill>
              </a:rPr>
              <a:t>انتخاب شده</a:t>
            </a:r>
            <a:endParaRPr lang="fa-IR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507328" y="41148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لوکیشن</a:t>
            </a:r>
            <a:endParaRPr lang="fa-IR" sz="1400" dirty="0"/>
          </a:p>
        </p:txBody>
      </p:sp>
      <p:sp>
        <p:nvSpPr>
          <p:cNvPr id="17" name="Shape 13"/>
          <p:cNvSpPr/>
          <p:nvPr/>
        </p:nvSpPr>
        <p:spPr>
          <a:xfrm>
            <a:off x="6507328" y="4709160"/>
            <a:ext cx="2019224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07328" y="48463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جزئیات سالن و ظرفیت: تکمیل شود</a:t>
            </a:r>
            <a:endParaRPr lang="fa-IR" sz="1200" dirty="0"/>
          </a:p>
        </p:txBody>
      </p:sp>
      <p:sp>
        <p:nvSpPr>
          <p:cNvPr id="19" name="glance card 3"/>
          <p:cNvSpPr/>
          <p:nvPr/>
        </p:nvSpPr>
        <p:spPr>
          <a:xfrm>
            <a:off x="3390824" y="1508760"/>
            <a:ext cx="2567864" cy="42062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0" name="glance 3 circle"/>
          <p:cNvSpPr/>
          <p:nvPr/>
        </p:nvSpPr>
        <p:spPr>
          <a:xfrm>
            <a:off x="4907128" y="1874520"/>
            <a:ext cx="731520" cy="73152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21" name="glanc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692" y="205008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665144" y="28346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3"/>
                </a:solidFill>
              </a:rPr>
              <a:t>هدف اجرایی</a:t>
            </a:r>
            <a:endParaRPr lang="fa-IR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573704" y="329184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tx2"/>
                </a:solidFill>
              </a:rPr>
              <a:t>تجربه منسجم</a:t>
            </a:r>
            <a:endParaRPr lang="fa-IR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3665144" y="41148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حرفه‌ای و بدون اصطکاک</a:t>
            </a:r>
            <a:endParaRPr lang="fa-IR" sz="1400" dirty="0"/>
          </a:p>
        </p:txBody>
      </p:sp>
      <p:sp>
        <p:nvSpPr>
          <p:cNvPr id="25" name="Shape 20"/>
          <p:cNvSpPr/>
          <p:nvPr/>
        </p:nvSpPr>
        <p:spPr>
          <a:xfrm>
            <a:off x="3665144" y="4709160"/>
            <a:ext cx="2019224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665144" y="48463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از دعوت تا خروج مهمان</a:t>
            </a:r>
            <a:endParaRPr lang="fa-IR" sz="1200" dirty="0"/>
          </a:p>
        </p:txBody>
      </p:sp>
      <p:sp>
        <p:nvSpPr>
          <p:cNvPr id="27" name="glance card 4"/>
          <p:cNvSpPr/>
          <p:nvPr/>
        </p:nvSpPr>
        <p:spPr>
          <a:xfrm>
            <a:off x="548640" y="1508760"/>
            <a:ext cx="2567864" cy="4206240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8" name="glance 4 circle"/>
          <p:cNvSpPr/>
          <p:nvPr/>
        </p:nvSpPr>
        <p:spPr>
          <a:xfrm>
            <a:off x="2064944" y="1874520"/>
            <a:ext cx="731520" cy="73152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29" name="glanc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509" y="2050085"/>
            <a:ext cx="380390" cy="38039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22960" y="28346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b="1" dirty="0">
                <a:solidFill>
                  <a:schemeClr val="accent3"/>
                </a:solidFill>
              </a:rPr>
              <a:t>مالک اجرا</a:t>
            </a:r>
            <a:endParaRPr lang="fa-IR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31520" y="3291840"/>
            <a:ext cx="2110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tx2"/>
                </a:solidFill>
              </a:rPr>
              <a:t>صفر تا صد</a:t>
            </a:r>
            <a:endParaRPr lang="fa-IR" sz="2400" dirty="0"/>
          </a:p>
        </p:txBody>
      </p:sp>
      <p:sp>
        <p:nvSpPr>
          <p:cNvPr id="32" name="Text 26"/>
          <p:cNvSpPr txBox="1"/>
          <p:nvPr/>
        </p:nvSpPr>
        <p:spPr>
          <a:xfrm>
            <a:off x="822960" y="411480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مسئولیت اجرای کامل</a:t>
            </a:r>
            <a:endParaRPr lang="fa-IR" sz="1400" dirty="0"/>
          </a:p>
        </p:txBody>
      </p:sp>
      <p:sp>
        <p:nvSpPr>
          <p:cNvPr id="33" name="Shape 27"/>
          <p:cNvSpPr/>
          <p:nvPr/>
        </p:nvSpPr>
        <p:spPr>
          <a:xfrm>
            <a:off x="822960" y="4709160"/>
            <a:ext cx="2019224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22960" y="48463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تعیین تیم و تأییدکنندگان: تکمیل شود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اهداف رویداد و معیارهای موفقیت</a:t>
            </a:r>
            <a:endParaRPr lang="fa-IR" sz="3000" dirty="0"/>
          </a:p>
        </p:txBody>
      </p:sp>
      <p:sp>
        <p:nvSpPr>
          <p:cNvPr id="3" name="goals panel"/>
          <p:cNvSpPr/>
          <p:nvPr/>
        </p:nvSpPr>
        <p:spPr>
          <a:xfrm>
            <a:off x="6537960" y="1508760"/>
            <a:ext cx="5105095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903720" y="1783080"/>
            <a:ext cx="437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000" b="1" dirty="0">
                <a:solidFill>
                  <a:schemeClr val="accent2"/>
                </a:solidFill>
              </a:rPr>
              <a:t>اهداف کلیدی</a:t>
            </a:r>
            <a:endParaRPr lang="fa-IR" sz="2000" dirty="0"/>
          </a:p>
        </p:txBody>
      </p:sp>
      <p:sp>
        <p:nvSpPr>
          <p:cNvPr id="5" name="Shape 3"/>
          <p:cNvSpPr/>
          <p:nvPr/>
        </p:nvSpPr>
        <p:spPr>
          <a:xfrm>
            <a:off x="10820095" y="2514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20095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۱</a:t>
            </a:r>
            <a:endParaRPr lang="fa-IR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2468880"/>
            <a:ext cx="3733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خلق تجربه حرفه‌ای و یکپارچه برای مهمانان</a:t>
            </a:r>
            <a:endParaRPr lang="fa-IR" sz="1500" dirty="0"/>
          </a:p>
        </p:txBody>
      </p:sp>
      <p:sp>
        <p:nvSpPr>
          <p:cNvPr id="8" name="Shape 6"/>
          <p:cNvSpPr/>
          <p:nvPr/>
        </p:nvSpPr>
        <p:spPr>
          <a:xfrm>
            <a:off x="10820095" y="33558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820095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۲</a:t>
            </a:r>
            <a:endParaRPr lang="fa-IR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3310128"/>
            <a:ext cx="3733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اجرای دقیق برنامه در زمان‌بندی مصوب</a:t>
            </a:r>
            <a:endParaRPr lang="fa-IR" sz="1500" dirty="0"/>
          </a:p>
        </p:txBody>
      </p:sp>
      <p:sp>
        <p:nvSpPr>
          <p:cNvPr id="11" name="Shape 9"/>
          <p:cNvSpPr/>
          <p:nvPr/>
        </p:nvSpPr>
        <p:spPr>
          <a:xfrm>
            <a:off x="10820095" y="419709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820095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۳</a:t>
            </a:r>
            <a:endParaRPr lang="fa-IR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4151376"/>
            <a:ext cx="3733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تسهیل تعامل، یادگیری و شبکه‌سازی</a:t>
            </a:r>
            <a:endParaRPr lang="fa-IR" sz="1500" dirty="0"/>
          </a:p>
        </p:txBody>
      </p:sp>
      <p:sp>
        <p:nvSpPr>
          <p:cNvPr id="14" name="Shape 12"/>
          <p:cNvSpPr/>
          <p:nvPr/>
        </p:nvSpPr>
        <p:spPr>
          <a:xfrm>
            <a:off x="10820095" y="503834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820095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۴</a:t>
            </a:r>
            <a:endParaRPr lang="fa-IR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4992624"/>
            <a:ext cx="3733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هماهنگی مؤثر میان محتوا، تشریفات و عملیات</a:t>
            </a:r>
            <a:endParaRPr lang="fa-IR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50876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شاخص‌های پیشنهادی (KPI)</a:t>
            </a:r>
            <a:endParaRPr lang="fa-IR" sz="1800" dirty="0"/>
          </a:p>
        </p:txBody>
      </p:sp>
      <p:sp>
        <p:nvSpPr>
          <p:cNvPr id="18" name="kpi رضایت مهمان"/>
          <p:cNvSpPr/>
          <p:nvPr/>
        </p:nvSpPr>
        <p:spPr>
          <a:xfrm>
            <a:off x="3520440" y="2103120"/>
            <a:ext cx="274320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9" name="kpi 0 circle"/>
          <p:cNvSpPr/>
          <p:nvPr/>
        </p:nvSpPr>
        <p:spPr>
          <a:xfrm>
            <a:off x="5394960" y="2377440"/>
            <a:ext cx="594360" cy="594360"/>
          </a:xfrm>
          <a:prstGeom prst="ellipse">
            <a:avLst/>
          </a:prstGeom>
          <a:solidFill>
            <a:srgbClr val="F7EEDB"/>
          </a:solidFill>
          <a:ln/>
        </p:spPr>
      </p:sp>
      <p:pic>
        <p:nvPicPr>
          <p:cNvPr id="20" name="kpi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606" y="2520086"/>
            <a:ext cx="309067" cy="309067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3749040" y="30632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رضایت مهمان</a:t>
            </a:r>
            <a:endParaRPr lang="fa-IR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749040" y="3456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نظرسنجی پس از رویداد</a:t>
            </a:r>
            <a:endParaRPr lang="fa-IR" sz="1200" dirty="0"/>
          </a:p>
        </p:txBody>
      </p:sp>
      <p:sp>
        <p:nvSpPr>
          <p:cNvPr id="23" name="kpi انضباط زمانی"/>
          <p:cNvSpPr/>
          <p:nvPr/>
        </p:nvSpPr>
        <p:spPr>
          <a:xfrm>
            <a:off x="548640" y="2103120"/>
            <a:ext cx="274320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4" name="kpi 1 circle"/>
          <p:cNvSpPr/>
          <p:nvPr/>
        </p:nvSpPr>
        <p:spPr>
          <a:xfrm>
            <a:off x="2423160" y="2377440"/>
            <a:ext cx="594360" cy="594360"/>
          </a:xfrm>
          <a:prstGeom prst="ellipse">
            <a:avLst/>
          </a:prstGeom>
          <a:solidFill>
            <a:srgbClr val="F7EEDB"/>
          </a:solidFill>
          <a:ln/>
        </p:spPr>
      </p:sp>
      <p:pic>
        <p:nvPicPr>
          <p:cNvPr id="25" name="kpi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806" y="2520086"/>
            <a:ext cx="309067" cy="309067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77240" y="30632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انضباط زمانی</a:t>
            </a:r>
            <a:endParaRPr lang="fa-IR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3456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انحراف از کنداکتور</a:t>
            </a:r>
            <a:endParaRPr lang="fa-IR" sz="1200" dirty="0"/>
          </a:p>
        </p:txBody>
      </p:sp>
      <p:sp>
        <p:nvSpPr>
          <p:cNvPr id="28" name="kpi کیفیت اجرا"/>
          <p:cNvSpPr/>
          <p:nvPr/>
        </p:nvSpPr>
        <p:spPr>
          <a:xfrm>
            <a:off x="3520440" y="4206240"/>
            <a:ext cx="274320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9" name="kpi 2 circle"/>
          <p:cNvSpPr/>
          <p:nvPr/>
        </p:nvSpPr>
        <p:spPr>
          <a:xfrm>
            <a:off x="5394960" y="4480560"/>
            <a:ext cx="594360" cy="594360"/>
          </a:xfrm>
          <a:prstGeom prst="ellipse">
            <a:avLst/>
          </a:prstGeom>
          <a:solidFill>
            <a:srgbClr val="F7EEDB"/>
          </a:solidFill>
          <a:ln/>
        </p:spPr>
      </p:sp>
      <p:pic>
        <p:nvPicPr>
          <p:cNvPr id="30" name="kpi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06" y="4623206"/>
            <a:ext cx="309067" cy="30906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3749040" y="5166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کیفیت اجرا</a:t>
            </a:r>
            <a:endParaRPr lang="fa-IR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3749040" y="55595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تعداد خطاهای عملیاتی</a:t>
            </a:r>
            <a:endParaRPr lang="fa-IR" sz="1200" dirty="0"/>
          </a:p>
        </p:txBody>
      </p:sp>
      <p:sp>
        <p:nvSpPr>
          <p:cNvPr id="33" name="kpi تجربه پذیرایی"/>
          <p:cNvSpPr/>
          <p:nvPr/>
        </p:nvSpPr>
        <p:spPr>
          <a:xfrm>
            <a:off x="548640" y="4206240"/>
            <a:ext cx="2743200" cy="1874520"/>
          </a:xfrm>
          <a:prstGeom prst="roundRect">
            <a:avLst>
              <a:gd name="adj" fmla="val 58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34" name="kpi 3 circle"/>
          <p:cNvSpPr/>
          <p:nvPr/>
        </p:nvSpPr>
        <p:spPr>
          <a:xfrm>
            <a:off x="2423160" y="4480560"/>
            <a:ext cx="594360" cy="594360"/>
          </a:xfrm>
          <a:prstGeom prst="ellipse">
            <a:avLst/>
          </a:prstGeom>
          <a:solidFill>
            <a:srgbClr val="F7EEDB"/>
          </a:solidFill>
          <a:ln/>
        </p:spPr>
      </p:sp>
      <p:pic>
        <p:nvPicPr>
          <p:cNvPr id="35" name="kpi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806" y="4623206"/>
            <a:ext cx="309067" cy="30906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77240" y="5166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تجربه پذیرایی</a:t>
            </a:r>
            <a:endParaRPr lang="fa-IR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777240" y="55595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بازخورد و کفایت سرویس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دامنه پروژه و فرض‌های اجرایی</a:t>
            </a:r>
            <a:endParaRPr lang="fa-IR" sz="3000" dirty="0"/>
          </a:p>
        </p:txBody>
      </p:sp>
      <p:sp>
        <p:nvSpPr>
          <p:cNvPr id="3" name="scope در دامنه پروژه"/>
          <p:cNvSpPr/>
          <p:nvPr/>
        </p:nvSpPr>
        <p:spPr>
          <a:xfrm>
            <a:off x="8158277" y="1508760"/>
            <a:ext cx="3484778" cy="452628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" name="scope 0 circle"/>
          <p:cNvSpPr/>
          <p:nvPr/>
        </p:nvSpPr>
        <p:spPr>
          <a:xfrm>
            <a:off x="10682935" y="182880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5" name="scope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6554" y="19824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78317" y="1874520"/>
            <a:ext cx="2113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در دامنه پروژه</a:t>
            </a:r>
            <a:endParaRPr lang="fa-IR" sz="1800" dirty="0"/>
          </a:p>
        </p:txBody>
      </p:sp>
      <p:sp>
        <p:nvSpPr>
          <p:cNvPr id="7" name="Shape 4"/>
          <p:cNvSpPr/>
          <p:nvPr/>
        </p:nvSpPr>
        <p:spPr>
          <a:xfrm>
            <a:off x="8478317" y="2697480"/>
            <a:ext cx="284469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78317" y="2880360"/>
            <a:ext cx="284469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طراحی مسیر مهمان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فرایندهای اجرایی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کنداکتور و هماهنگی صحنه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پذیرایی و تشریفات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مدیریت ریسک و روز اجرا</a:t>
            </a:r>
            <a:endParaRPr lang="fa-IR" sz="1500" dirty="0"/>
          </a:p>
        </p:txBody>
      </p:sp>
      <p:sp>
        <p:nvSpPr>
          <p:cNvPr id="9" name="scope فرض‌های فعلی"/>
          <p:cNvSpPr/>
          <p:nvPr/>
        </p:nvSpPr>
        <p:spPr>
          <a:xfrm>
            <a:off x="4353458" y="1508760"/>
            <a:ext cx="3484778" cy="452628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0" name="scope 1 circle"/>
          <p:cNvSpPr/>
          <p:nvPr/>
        </p:nvSpPr>
        <p:spPr>
          <a:xfrm>
            <a:off x="6878117" y="1828800"/>
            <a:ext cx="640080" cy="640080"/>
          </a:xfrm>
          <a:prstGeom prst="ellipse">
            <a:avLst/>
          </a:prstGeom>
          <a:solidFill>
            <a:srgbClr val="5E7387"/>
          </a:solidFill>
          <a:ln/>
        </p:spPr>
      </p:sp>
      <p:pic>
        <p:nvPicPr>
          <p:cNvPr id="11" name="scop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19824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3498" y="1874520"/>
            <a:ext cx="2113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فرض‌های فعلی</a:t>
            </a:r>
            <a:endParaRPr lang="fa-IR" sz="1800" dirty="0"/>
          </a:p>
        </p:txBody>
      </p:sp>
      <p:sp>
        <p:nvSpPr>
          <p:cNvPr id="13" name="Shape 9"/>
          <p:cNvSpPr/>
          <p:nvPr/>
        </p:nvSpPr>
        <p:spPr>
          <a:xfrm>
            <a:off x="4673498" y="2697480"/>
            <a:ext cx="2844698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73498" y="2880360"/>
            <a:ext cx="284469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لوکیشن انتخاب شده است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تعداد مهمانان ۵۰ تا ۱۰۰ نفر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مسئولیت اجرا از ابتدا تا انتها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تاریخ و ساختار برنامه قطعی نشده</a:t>
            </a:r>
            <a:endParaRPr lang="fa-IR" sz="1500" dirty="0"/>
          </a:p>
        </p:txBody>
      </p:sp>
      <p:sp>
        <p:nvSpPr>
          <p:cNvPr id="15" name="scope موارد نیازمند تصمیم"/>
          <p:cNvSpPr/>
          <p:nvPr/>
        </p:nvSpPr>
        <p:spPr>
          <a:xfrm>
            <a:off x="548640" y="1508760"/>
            <a:ext cx="3484778" cy="4526280"/>
          </a:xfrm>
          <a:prstGeom prst="roundRect">
            <a:avLst>
              <a:gd name="adj" fmla="val 3149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6" name="scope 2 circle"/>
          <p:cNvSpPr/>
          <p:nvPr/>
        </p:nvSpPr>
        <p:spPr>
          <a:xfrm>
            <a:off x="3073298" y="1828800"/>
            <a:ext cx="640080" cy="64008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17" name="scop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918" y="198241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8680" y="1874520"/>
            <a:ext cx="2113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tx2"/>
                </a:solidFill>
              </a:rPr>
              <a:t>موارد نیازمند تصمیم</a:t>
            </a:r>
            <a:endParaRPr lang="fa-IR" sz="1800" dirty="0"/>
          </a:p>
        </p:txBody>
      </p:sp>
      <p:sp>
        <p:nvSpPr>
          <p:cNvPr id="19" name="Shape 14"/>
          <p:cNvSpPr/>
          <p:nvPr/>
        </p:nvSpPr>
        <p:spPr>
          <a:xfrm>
            <a:off x="868680" y="2697480"/>
            <a:ext cx="284469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68680" y="2880360"/>
            <a:ext cx="284469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تاریخ و ساعت نهایی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تعداد قطعی مهمانان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بودجه و سطح پذیرایی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ساختار محتوایی و سخنرانان</a:t>
            </a:r>
            <a:endParaRPr lang="fa-IR" sz="1500" dirty="0"/>
          </a:p>
          <a:p>
            <a:pPr algn="r" marL="228600" indent="-228600">
              <a:spcAft>
                <a:spcPts val="1000"/>
              </a:spcAft>
              <a:buSzPct val="100000"/>
              <a:buChar char="•"/>
            </a:pPr>
            <a:r>
              <a:rPr lang="fa-IR" altLang="en-US" sz="1500" dirty="0">
                <a:solidFill>
                  <a:schemeClr val="tx1"/>
                </a:solidFill>
              </a:rPr>
              <a:t>حدود اختیارات و تأییدها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جرنی مهمان  |  Guest Journey</a:t>
            </a:r>
            <a:endParaRPr lang="fa-IR" sz="3000" dirty="0"/>
          </a:p>
        </p:txBody>
      </p:sp>
      <p:sp>
        <p:nvSpPr>
          <p:cNvPr id="3" name="journey line"/>
          <p:cNvSpPr/>
          <p:nvPr/>
        </p:nvSpPr>
        <p:spPr>
          <a:xfrm>
            <a:off x="1473175" y="2354580"/>
            <a:ext cx="924534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0165309" y="1801368"/>
            <a:ext cx="1106424" cy="110642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5" name="journey 1 circle"/>
          <p:cNvSpPr/>
          <p:nvPr/>
        </p:nvSpPr>
        <p:spPr>
          <a:xfrm>
            <a:off x="10238461" y="1874520"/>
            <a:ext cx="960120" cy="960120"/>
          </a:xfrm>
          <a:prstGeom prst="ellipse">
            <a:avLst/>
          </a:prstGeom>
          <a:solidFill>
            <a:srgbClr val="0F2433"/>
          </a:solidFill>
          <a:ln/>
        </p:spPr>
      </p:sp>
      <p:pic>
        <p:nvPicPr>
          <p:cNvPr id="6" name="journe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889" y="2104949"/>
            <a:ext cx="499262" cy="4992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24261" y="178308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24261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chemeClr val="tx2"/>
                </a:solidFill>
              </a:rPr>
              <a:t>۱</a:t>
            </a:r>
            <a:endParaRPr lang="fa-IR" sz="1100" dirty="0"/>
          </a:p>
        </p:txBody>
      </p:sp>
      <p:sp>
        <p:nvSpPr>
          <p:cNvPr id="9" name="journey card 1"/>
          <p:cNvSpPr/>
          <p:nvPr/>
        </p:nvSpPr>
        <p:spPr>
          <a:xfrm>
            <a:off x="9885426" y="3154680"/>
            <a:ext cx="1666189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022586" y="3337560"/>
            <a:ext cx="13918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آگاهی و دعوت</a:t>
            </a:r>
            <a:endParaRPr lang="fa-IR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022586" y="3794760"/>
            <a:ext cx="1391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دعوت‌نامه، پیام اصلی، ثبت‌نام</a:t>
            </a:r>
            <a:endParaRPr lang="fa-IR" sz="1300" dirty="0"/>
          </a:p>
        </p:txBody>
      </p:sp>
      <p:sp>
        <p:nvSpPr>
          <p:cNvPr id="12" name="Shape 9"/>
          <p:cNvSpPr/>
          <p:nvPr/>
        </p:nvSpPr>
        <p:spPr>
          <a:xfrm>
            <a:off x="8316239" y="1801368"/>
            <a:ext cx="1106424" cy="110642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3" name="journey 2 circle"/>
          <p:cNvSpPr/>
          <p:nvPr/>
        </p:nvSpPr>
        <p:spPr>
          <a:xfrm>
            <a:off x="8389391" y="1874520"/>
            <a:ext cx="960120" cy="960120"/>
          </a:xfrm>
          <a:prstGeom prst="ellipse">
            <a:avLst/>
          </a:prstGeom>
          <a:solidFill>
            <a:srgbClr val="0F2433"/>
          </a:solidFill>
          <a:ln/>
        </p:spPr>
      </p:sp>
      <p:pic>
        <p:nvPicPr>
          <p:cNvPr id="14" name="journe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820" y="2104949"/>
            <a:ext cx="499262" cy="49926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075191" y="178308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075191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chemeClr val="tx2"/>
                </a:solidFill>
              </a:rPr>
              <a:t>۲</a:t>
            </a:r>
            <a:endParaRPr lang="fa-IR" sz="1100" dirty="0"/>
          </a:p>
        </p:txBody>
      </p:sp>
      <p:sp>
        <p:nvSpPr>
          <p:cNvPr id="17" name="journey card 2"/>
          <p:cNvSpPr/>
          <p:nvPr/>
        </p:nvSpPr>
        <p:spPr>
          <a:xfrm>
            <a:off x="8036357" y="3154680"/>
            <a:ext cx="1666189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173517" y="3337560"/>
            <a:ext cx="13918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پیش از رویداد</a:t>
            </a:r>
            <a:endParaRPr lang="fa-IR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173517" y="3794760"/>
            <a:ext cx="1391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یادآوری، اطلاعات مسیر و پارکینگ</a:t>
            </a:r>
            <a:endParaRPr lang="fa-IR" sz="1300" dirty="0"/>
          </a:p>
        </p:txBody>
      </p:sp>
      <p:sp>
        <p:nvSpPr>
          <p:cNvPr id="20" name="Shape 16"/>
          <p:cNvSpPr/>
          <p:nvPr/>
        </p:nvSpPr>
        <p:spPr>
          <a:xfrm>
            <a:off x="6467170" y="1801368"/>
            <a:ext cx="1106424" cy="110642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1" name="journey 3 circle"/>
          <p:cNvSpPr/>
          <p:nvPr/>
        </p:nvSpPr>
        <p:spPr>
          <a:xfrm>
            <a:off x="6540322" y="1874520"/>
            <a:ext cx="960120" cy="96012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22" name="journe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751" y="2104949"/>
            <a:ext cx="499262" cy="49926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226122" y="178308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22612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chemeClr val="tx2"/>
                </a:solidFill>
              </a:rPr>
              <a:t>۳</a:t>
            </a:r>
            <a:endParaRPr lang="fa-IR" sz="1100" dirty="0"/>
          </a:p>
        </p:txBody>
      </p:sp>
      <p:sp>
        <p:nvSpPr>
          <p:cNvPr id="25" name="journey card 3"/>
          <p:cNvSpPr/>
          <p:nvPr/>
        </p:nvSpPr>
        <p:spPr>
          <a:xfrm>
            <a:off x="6187288" y="3154680"/>
            <a:ext cx="1666189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6324448" y="3337560"/>
            <a:ext cx="13918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ورود</a:t>
            </a:r>
            <a:endParaRPr lang="fa-IR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324448" y="3794760"/>
            <a:ext cx="1391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خوشامدگویی، راهنمایی، ثبت حضور</a:t>
            </a:r>
            <a:endParaRPr lang="fa-IR" sz="1300" dirty="0"/>
          </a:p>
        </p:txBody>
      </p:sp>
      <p:sp>
        <p:nvSpPr>
          <p:cNvPr id="28" name="Shape 23"/>
          <p:cNvSpPr/>
          <p:nvPr/>
        </p:nvSpPr>
        <p:spPr>
          <a:xfrm>
            <a:off x="4618101" y="1801368"/>
            <a:ext cx="1106424" cy="110642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9" name="journey 4 circle"/>
          <p:cNvSpPr/>
          <p:nvPr/>
        </p:nvSpPr>
        <p:spPr>
          <a:xfrm>
            <a:off x="4691253" y="1874520"/>
            <a:ext cx="960120" cy="960120"/>
          </a:xfrm>
          <a:prstGeom prst="ellipse">
            <a:avLst/>
          </a:prstGeom>
          <a:solidFill>
            <a:srgbClr val="0F2433"/>
          </a:solidFill>
          <a:ln/>
        </p:spPr>
      </p:sp>
      <p:pic>
        <p:nvPicPr>
          <p:cNvPr id="30" name="journe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682" y="2104949"/>
            <a:ext cx="499262" cy="49926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377053" y="178308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377053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chemeClr val="tx2"/>
                </a:solidFill>
              </a:rPr>
              <a:t>۴</a:t>
            </a:r>
            <a:endParaRPr lang="fa-IR" sz="1100" dirty="0"/>
          </a:p>
        </p:txBody>
      </p:sp>
      <p:sp>
        <p:nvSpPr>
          <p:cNvPr id="33" name="journey card 4"/>
          <p:cNvSpPr/>
          <p:nvPr/>
        </p:nvSpPr>
        <p:spPr>
          <a:xfrm>
            <a:off x="4338218" y="3154680"/>
            <a:ext cx="1666189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4475378" y="3337560"/>
            <a:ext cx="13918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استقرار</a:t>
            </a:r>
            <a:endParaRPr lang="fa-IR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4475378" y="3794760"/>
            <a:ext cx="1391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هدایت به سالن، پذیرایی اولیه</a:t>
            </a:r>
            <a:endParaRPr lang="fa-IR" sz="1300" dirty="0"/>
          </a:p>
        </p:txBody>
      </p:sp>
      <p:sp>
        <p:nvSpPr>
          <p:cNvPr id="36" name="Shape 30"/>
          <p:cNvSpPr/>
          <p:nvPr/>
        </p:nvSpPr>
        <p:spPr>
          <a:xfrm>
            <a:off x="2769032" y="1801368"/>
            <a:ext cx="1106424" cy="110642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37" name="journey 5 circle"/>
          <p:cNvSpPr/>
          <p:nvPr/>
        </p:nvSpPr>
        <p:spPr>
          <a:xfrm>
            <a:off x="2842184" y="1874520"/>
            <a:ext cx="960120" cy="96012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38" name="journey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613" y="2104949"/>
            <a:ext cx="499262" cy="499262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3527984" y="178308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3527984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chemeClr val="tx2"/>
                </a:solidFill>
              </a:rPr>
              <a:t>۵</a:t>
            </a:r>
            <a:endParaRPr lang="fa-IR" sz="1100" dirty="0"/>
          </a:p>
        </p:txBody>
      </p:sp>
      <p:sp>
        <p:nvSpPr>
          <p:cNvPr id="41" name="journey card 5"/>
          <p:cNvSpPr/>
          <p:nvPr/>
        </p:nvSpPr>
        <p:spPr>
          <a:xfrm>
            <a:off x="2489149" y="3154680"/>
            <a:ext cx="1666189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2" name="Text 35"/>
          <p:cNvSpPr txBox="1"/>
          <p:nvPr/>
        </p:nvSpPr>
        <p:spPr>
          <a:xfrm>
            <a:off x="2626309" y="3337560"/>
            <a:ext cx="13918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تجربه برنامه</a:t>
            </a:r>
            <a:endParaRPr lang="fa-IR" sz="1600" dirty="0"/>
          </a:p>
        </p:txBody>
      </p:sp>
      <p:sp>
        <p:nvSpPr>
          <p:cNvPr id="43" name="Text 36"/>
          <p:cNvSpPr txBox="1"/>
          <p:nvPr/>
        </p:nvSpPr>
        <p:spPr>
          <a:xfrm>
            <a:off x="2626309" y="3794760"/>
            <a:ext cx="1391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محتوا، تعامل، پذیرایی میان‌برنامه</a:t>
            </a:r>
            <a:endParaRPr lang="fa-IR" sz="1300" dirty="0"/>
          </a:p>
        </p:txBody>
      </p:sp>
      <p:sp>
        <p:nvSpPr>
          <p:cNvPr id="44" name="Shape 37"/>
          <p:cNvSpPr/>
          <p:nvPr/>
        </p:nvSpPr>
        <p:spPr>
          <a:xfrm>
            <a:off x="919963" y="1801368"/>
            <a:ext cx="1106424" cy="1106424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45" name="journey 6 circle"/>
          <p:cNvSpPr/>
          <p:nvPr/>
        </p:nvSpPr>
        <p:spPr>
          <a:xfrm>
            <a:off x="993115" y="1874520"/>
            <a:ext cx="960120" cy="960120"/>
          </a:xfrm>
          <a:prstGeom prst="ellipse">
            <a:avLst/>
          </a:prstGeom>
          <a:solidFill>
            <a:srgbClr val="0F2433"/>
          </a:solidFill>
          <a:ln/>
        </p:spPr>
      </p:sp>
      <p:pic>
        <p:nvPicPr>
          <p:cNvPr id="46" name="journey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543" y="2104949"/>
            <a:ext cx="499262" cy="499262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1678915" y="178308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1678915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100" b="1" dirty="0">
                <a:solidFill>
                  <a:schemeClr val="tx2"/>
                </a:solidFill>
              </a:rPr>
              <a:t>۶</a:t>
            </a:r>
            <a:endParaRPr lang="fa-IR" sz="1100" dirty="0"/>
          </a:p>
        </p:txBody>
      </p:sp>
      <p:sp>
        <p:nvSpPr>
          <p:cNvPr id="49" name="journey card 6"/>
          <p:cNvSpPr/>
          <p:nvPr/>
        </p:nvSpPr>
        <p:spPr>
          <a:xfrm>
            <a:off x="640080" y="3154680"/>
            <a:ext cx="1666189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50" name="Text 42"/>
          <p:cNvSpPr txBox="1"/>
          <p:nvPr/>
        </p:nvSpPr>
        <p:spPr>
          <a:xfrm>
            <a:off x="777240" y="3337560"/>
            <a:ext cx="13918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خروج و پیگیری</a:t>
            </a:r>
            <a:endParaRPr lang="fa-IR" sz="1600" dirty="0"/>
          </a:p>
        </p:txBody>
      </p:sp>
      <p:sp>
        <p:nvSpPr>
          <p:cNvPr id="51" name="Text 43"/>
          <p:cNvSpPr txBox="1"/>
          <p:nvPr/>
        </p:nvSpPr>
        <p:spPr>
          <a:xfrm>
            <a:off x="777240" y="3794760"/>
            <a:ext cx="13918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خداحافظی، نظرسنجی، ارسال جمع‌بندی</a:t>
            </a:r>
            <a:endParaRPr lang="fa-IR" sz="1300" dirty="0"/>
          </a:p>
        </p:txBody>
      </p:sp>
      <p:sp>
        <p:nvSpPr>
          <p:cNvPr id="52" name="principle"/>
          <p:cNvSpPr/>
          <p:nvPr/>
        </p:nvSpPr>
        <p:spPr>
          <a:xfrm>
            <a:off x="548640" y="502920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8695" y="5212080"/>
            <a:ext cx="329184" cy="329184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22960" y="50292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500" b="1" dirty="0">
                <a:solidFill>
                  <a:schemeClr val="accent2"/>
                </a:solidFill>
              </a:rPr>
              <a:t>اصل طراحی:  </a:t>
            </a:r>
            <a:pPr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هر نقطه تماس باید مالک مشخص، پیام روشن و تجربه بدون ابهام داشته باشد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فرایند اجرایی رویداد  |  از آماده‌سازی تا جمع‌بندی</a:t>
            </a:r>
            <a:endParaRPr lang="fa-IR" sz="3000" dirty="0"/>
          </a:p>
        </p:txBody>
      </p:sp>
      <p:sp>
        <p:nvSpPr>
          <p:cNvPr id="3" name="process 1"/>
          <p:cNvSpPr/>
          <p:nvPr/>
        </p:nvSpPr>
        <p:spPr>
          <a:xfrm>
            <a:off x="8280197" y="1508760"/>
            <a:ext cx="33628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554517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4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process 0 circle"/>
          <p:cNvSpPr/>
          <p:nvPr/>
        </p:nvSpPr>
        <p:spPr>
          <a:xfrm>
            <a:off x="10728655" y="178308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6" name="process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274" y="19366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54517" y="256032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2"/>
                </a:solidFill>
              </a:rPr>
              <a:t>آماده‌سازی</a:t>
            </a:r>
            <a:endParaRPr lang="fa-IR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554517" y="29718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اطلاعات پایه، بودجه، تأمین‌کنندگان، محتوا</a:t>
            </a:r>
            <a:endParaRPr lang="fa-IR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717" y="2350008"/>
            <a:ext cx="329184" cy="329184"/>
          </a:xfrm>
          <a:prstGeom prst="rect">
            <a:avLst/>
          </a:prstGeom>
        </p:spPr>
      </p:pic>
      <p:sp>
        <p:nvSpPr>
          <p:cNvPr id="10" name="process 2"/>
          <p:cNvSpPr/>
          <p:nvPr/>
        </p:nvSpPr>
        <p:spPr>
          <a:xfrm>
            <a:off x="4414418" y="1508760"/>
            <a:ext cx="33628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4688738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4"/>
                </a:solidFill>
              </a:rPr>
              <a:t>02</a:t>
            </a:r>
            <a:endParaRPr lang="en-US" sz="3600" dirty="0"/>
          </a:p>
        </p:txBody>
      </p:sp>
      <p:sp>
        <p:nvSpPr>
          <p:cNvPr id="12" name="process 1 circle"/>
          <p:cNvSpPr/>
          <p:nvPr/>
        </p:nvSpPr>
        <p:spPr>
          <a:xfrm>
            <a:off x="6862877" y="178308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13" name="process 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496" y="193669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88738" y="256032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2"/>
                </a:solidFill>
              </a:rPr>
              <a:t>آماده‌سازی محل</a:t>
            </a:r>
            <a:endParaRPr lang="fa-IR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688738" y="29718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بازدید، چیدمان، تست فنی، علائم</a:t>
            </a:r>
            <a:endParaRPr lang="fa-IR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938" y="2350008"/>
            <a:ext cx="329184" cy="329184"/>
          </a:xfrm>
          <a:prstGeom prst="rect">
            <a:avLst/>
          </a:prstGeom>
        </p:spPr>
      </p:pic>
      <p:sp>
        <p:nvSpPr>
          <p:cNvPr id="17" name="process 3"/>
          <p:cNvSpPr/>
          <p:nvPr/>
        </p:nvSpPr>
        <p:spPr>
          <a:xfrm>
            <a:off x="548640" y="1508760"/>
            <a:ext cx="33628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8" name="Text 12"/>
          <p:cNvSpPr txBox="1"/>
          <p:nvPr/>
        </p:nvSpPr>
        <p:spPr>
          <a:xfrm>
            <a:off x="82296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4"/>
                </a:solidFill>
              </a:rPr>
              <a:t>03</a:t>
            </a:r>
            <a:endParaRPr lang="en-US" sz="3600" dirty="0"/>
          </a:p>
        </p:txBody>
      </p:sp>
      <p:sp>
        <p:nvSpPr>
          <p:cNvPr id="19" name="process 2 circle"/>
          <p:cNvSpPr/>
          <p:nvPr/>
        </p:nvSpPr>
        <p:spPr>
          <a:xfrm>
            <a:off x="2997098" y="178308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20" name="process 2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0718" y="1936699"/>
            <a:ext cx="332842" cy="3328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22960" y="256032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2"/>
                </a:solidFill>
              </a:rPr>
              <a:t>پذیرش</a:t>
            </a:r>
            <a:endParaRPr lang="fa-IR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822960" y="297180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کنترل فهرست، ثبت ورود، هدایت مهمان</a:t>
            </a:r>
            <a:endParaRPr lang="fa-IR" sz="1300" dirty="0"/>
          </a:p>
        </p:txBody>
      </p:sp>
      <p:sp>
        <p:nvSpPr>
          <p:cNvPr id="23" name="process 4"/>
          <p:cNvSpPr/>
          <p:nvPr/>
        </p:nvSpPr>
        <p:spPr>
          <a:xfrm>
            <a:off x="8280197" y="3840480"/>
            <a:ext cx="33628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4" name="Text 17"/>
          <p:cNvSpPr txBox="1"/>
          <p:nvPr/>
        </p:nvSpPr>
        <p:spPr>
          <a:xfrm>
            <a:off x="8554517" y="4069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4"/>
                </a:solidFill>
              </a:rPr>
              <a:t>04</a:t>
            </a:r>
            <a:endParaRPr lang="en-US" sz="3600" dirty="0"/>
          </a:p>
        </p:txBody>
      </p:sp>
      <p:sp>
        <p:nvSpPr>
          <p:cNvPr id="25" name="process 3 circle"/>
          <p:cNvSpPr/>
          <p:nvPr/>
        </p:nvSpPr>
        <p:spPr>
          <a:xfrm>
            <a:off x="10728655" y="411480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26" name="process 3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2274" y="4268419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554517" y="489204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2"/>
                </a:solidFill>
              </a:rPr>
              <a:t>اجرای برنامه</a:t>
            </a:r>
            <a:endParaRPr lang="fa-IR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8554517" y="530352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مدیریت زمان، صحنه، سخنران و فنی</a:t>
            </a:r>
            <a:endParaRPr lang="fa-IR" sz="13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8717" y="4681728"/>
            <a:ext cx="329184" cy="329184"/>
          </a:xfrm>
          <a:prstGeom prst="rect">
            <a:avLst/>
          </a:prstGeom>
        </p:spPr>
      </p:pic>
      <p:sp>
        <p:nvSpPr>
          <p:cNvPr id="30" name="process 5"/>
          <p:cNvSpPr/>
          <p:nvPr/>
        </p:nvSpPr>
        <p:spPr>
          <a:xfrm>
            <a:off x="4414418" y="3840480"/>
            <a:ext cx="33628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4688738" y="4069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4"/>
                </a:solidFill>
              </a:rPr>
              <a:t>05</a:t>
            </a:r>
            <a:endParaRPr lang="en-US" sz="3600" dirty="0"/>
          </a:p>
        </p:txBody>
      </p:sp>
      <p:sp>
        <p:nvSpPr>
          <p:cNvPr id="32" name="process 4 circle"/>
          <p:cNvSpPr/>
          <p:nvPr/>
        </p:nvSpPr>
        <p:spPr>
          <a:xfrm>
            <a:off x="6862877" y="411480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33" name="process 4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6496" y="4268419"/>
            <a:ext cx="332842" cy="33284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688738" y="489204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2"/>
                </a:solidFill>
              </a:rPr>
              <a:t>پذیرایی و تعامل</a:t>
            </a:r>
            <a:endParaRPr lang="fa-IR" sz="1700" dirty="0"/>
          </a:p>
        </p:txBody>
      </p:sp>
      <p:sp>
        <p:nvSpPr>
          <p:cNvPr id="35" name="Text 25"/>
          <p:cNvSpPr txBox="1"/>
          <p:nvPr/>
        </p:nvSpPr>
        <p:spPr>
          <a:xfrm>
            <a:off x="4688738" y="530352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سرویس‌دهی، مدیریت جریان و نظافت</a:t>
            </a:r>
            <a:endParaRPr lang="fa-IR" sz="13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2938" y="4681728"/>
            <a:ext cx="329184" cy="329184"/>
          </a:xfrm>
          <a:prstGeom prst="rect">
            <a:avLst/>
          </a:prstGeom>
        </p:spPr>
      </p:pic>
      <p:sp>
        <p:nvSpPr>
          <p:cNvPr id="37" name="process 6"/>
          <p:cNvSpPr/>
          <p:nvPr/>
        </p:nvSpPr>
        <p:spPr>
          <a:xfrm>
            <a:off x="548640" y="3840480"/>
            <a:ext cx="3362858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38" name="Text 27"/>
          <p:cNvSpPr txBox="1"/>
          <p:nvPr/>
        </p:nvSpPr>
        <p:spPr>
          <a:xfrm>
            <a:off x="822960" y="4069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4"/>
                </a:solidFill>
              </a:rPr>
              <a:t>06</a:t>
            </a:r>
            <a:endParaRPr lang="en-US" sz="3600" dirty="0"/>
          </a:p>
        </p:txBody>
      </p:sp>
      <p:sp>
        <p:nvSpPr>
          <p:cNvPr id="39" name="process 5 circle"/>
          <p:cNvSpPr/>
          <p:nvPr/>
        </p:nvSpPr>
        <p:spPr>
          <a:xfrm>
            <a:off x="2997098" y="411480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40" name="process 5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0718" y="4268419"/>
            <a:ext cx="332842" cy="33284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22960" y="489204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tx2"/>
                </a:solidFill>
              </a:rPr>
              <a:t>اختتام و جمع‌بندی</a:t>
            </a:r>
            <a:endParaRPr lang="fa-IR" sz="1700" dirty="0"/>
          </a:p>
        </p:txBody>
      </p:sp>
      <p:sp>
        <p:nvSpPr>
          <p:cNvPr id="42" name="Text 30"/>
          <p:cNvSpPr txBox="1"/>
          <p:nvPr/>
        </p:nvSpPr>
        <p:spPr>
          <a:xfrm>
            <a:off x="822960" y="5303520"/>
            <a:ext cx="2814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خروج، تسویه، جمع‌آوری، گزارش</a:t>
            </a:r>
            <a:endParaRPr lang="fa-I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کنداکتور  |  Run of Show</a:t>
            </a:r>
            <a:endParaRPr lang="fa-IR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i="1" dirty="0">
                <a:solidFill>
                  <a:schemeClr val="accent3"/>
                </a:solidFill>
              </a:rPr>
              <a:t>نمونه ساختار کنداکتور؛ ساعت‌ها و مدت‌ها پس از تأیید محتوای نهایی درج می‌شوند</a:t>
            </a:r>
            <a:endParaRPr lang="fa-IR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3566160"/>
                <a:gridCol w="2224735"/>
              </a:tblGrid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نکته کنترلی</a:t>
                      </a:r>
                      <a:endParaRPr lang="fa-IR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مسئول</a:t>
                      </a:r>
                      <a:endParaRPr lang="fa-IR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فعالیت</a:t>
                      </a:r>
                      <a:endParaRPr lang="fa-IR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بازه</a:t>
                      </a:r>
                      <a:endParaRPr lang="fa-IR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چک‌لیست تأیید محل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مدیر اجرا / فنی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آماده‌سازی سالن و تست فنی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0F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پیش از شروع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لیست و راهنمای سالن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تیم پذیرش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پذیرش و خوشامدگویی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0F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ورود مهمانان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میکروفن و اسلاید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مجری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خوشامد و معرفی رویداد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0F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افتتاحیه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تایمر و ترتیب سخنران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مدیر صحنه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سخنرانی / پنل / ارائه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0F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بخش محتوایی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مدیریت زمان بازگشت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تیم تشریفات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پذیرایی و شبکه‌سازی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0F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وقفه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اعلام مسیر خروج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مجری / مدیر اجرا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dirty="0">
                          <a:solidFill>
                            <a:srgbClr val="1B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جمع‌بندی و خداحافظی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fa-IR" altLang="en-US" sz="1300" b="1" dirty="0">
                          <a:solidFill>
                            <a:srgbClr val="0F24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اختتامیه</a:t>
                      </a:r>
                      <a:endParaRPr lang="fa-IR" sz="13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ساختار تیم و ماتریس مسئولیت</a:t>
            </a:r>
            <a:endParaRPr lang="fa-IR" sz="3000" dirty="0"/>
          </a:p>
        </p:txBody>
      </p:sp>
      <p:sp>
        <p:nvSpPr>
          <p:cNvPr id="3" name="director"/>
          <p:cNvSpPr/>
          <p:nvPr/>
        </p:nvSpPr>
        <p:spPr>
          <a:xfrm>
            <a:off x="3992728" y="1371600"/>
            <a:ext cx="42062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" name="director circle"/>
          <p:cNvSpPr/>
          <p:nvPr/>
        </p:nvSpPr>
        <p:spPr>
          <a:xfrm>
            <a:off x="7284568" y="1600200"/>
            <a:ext cx="685800" cy="68580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5" name="directo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9160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267048" y="15361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bg1"/>
                </a:solidFill>
              </a:rPr>
              <a:t>مدیر اجرا</a:t>
            </a:r>
            <a:endParaRPr lang="fa-IR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267048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C9D4DE"/>
                </a:solidFill>
              </a:rPr>
              <a:t>مالک یکپارچه‌سازی، تصمیم‌های لحظه‌ای و کنترل کیفیت</a:t>
            </a:r>
            <a:endParaRPr lang="fa-IR" sz="1200" dirty="0"/>
          </a:p>
        </p:txBody>
      </p:sp>
      <p:sp>
        <p:nvSpPr>
          <p:cNvPr id="8" name="Shape 5"/>
          <p:cNvSpPr/>
          <p:nvPr/>
        </p:nvSpPr>
        <p:spPr>
          <a:xfrm>
            <a:off x="6095848" y="2514600"/>
            <a:ext cx="0" cy="2743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32572" y="2788920"/>
            <a:ext cx="8526551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359123" y="2788920"/>
            <a:ext cx="0" cy="2743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1" name="team محتوا و صحنه"/>
          <p:cNvSpPr/>
          <p:nvPr/>
        </p:nvSpPr>
        <p:spPr>
          <a:xfrm>
            <a:off x="9075191" y="3063240"/>
            <a:ext cx="256786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2" name="team 0 circle"/>
          <p:cNvSpPr/>
          <p:nvPr/>
        </p:nvSpPr>
        <p:spPr>
          <a:xfrm>
            <a:off x="10865815" y="3291840"/>
            <a:ext cx="548640" cy="54864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13" name="team 0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489" y="342351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303791" y="3355848"/>
            <a:ext cx="1424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محتوا و صحنه</a:t>
            </a:r>
            <a:endParaRPr lang="fa-IR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9303791" y="39776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هماهنگی مجری، سخنران، اسلاید و ترتیب بخش‌ها</a:t>
            </a:r>
            <a:endParaRPr lang="fa-IR" sz="1200" dirty="0"/>
          </a:p>
        </p:txBody>
      </p:sp>
      <p:sp>
        <p:nvSpPr>
          <p:cNvPr id="16" name="Shape 12"/>
          <p:cNvSpPr/>
          <p:nvPr/>
        </p:nvSpPr>
        <p:spPr>
          <a:xfrm>
            <a:off x="7516940" y="2788920"/>
            <a:ext cx="0" cy="2743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7" name="team فنی و AV"/>
          <p:cNvSpPr/>
          <p:nvPr/>
        </p:nvSpPr>
        <p:spPr>
          <a:xfrm>
            <a:off x="6233008" y="3063240"/>
            <a:ext cx="256786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8" name="team 1 circle"/>
          <p:cNvSpPr/>
          <p:nvPr/>
        </p:nvSpPr>
        <p:spPr>
          <a:xfrm>
            <a:off x="8023631" y="3291840"/>
            <a:ext cx="548640" cy="54864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19" name="team 1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305" y="342351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61608" y="3355848"/>
            <a:ext cx="1424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فنی و AV</a:t>
            </a:r>
            <a:endParaRPr lang="fa-IR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61608" y="39776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صدا، تصویر، نور، اینترنت و پشتیبانی</a:t>
            </a:r>
            <a:endParaRPr lang="fa-IR" sz="1200" dirty="0"/>
          </a:p>
        </p:txBody>
      </p:sp>
      <p:sp>
        <p:nvSpPr>
          <p:cNvPr id="22" name="Shape 17"/>
          <p:cNvSpPr/>
          <p:nvPr/>
        </p:nvSpPr>
        <p:spPr>
          <a:xfrm>
            <a:off x="4674756" y="2788920"/>
            <a:ext cx="0" cy="2743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3" name="team پذیرش و تشریفات"/>
          <p:cNvSpPr/>
          <p:nvPr/>
        </p:nvSpPr>
        <p:spPr>
          <a:xfrm>
            <a:off x="3390824" y="3063240"/>
            <a:ext cx="256786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4" name="team 2 circle"/>
          <p:cNvSpPr/>
          <p:nvPr/>
        </p:nvSpPr>
        <p:spPr>
          <a:xfrm>
            <a:off x="5181448" y="3291840"/>
            <a:ext cx="548640" cy="54864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25" name="team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121" y="342351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3619424" y="3355848"/>
            <a:ext cx="1424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پذیرش و تشریفات</a:t>
            </a:r>
            <a:endParaRPr lang="fa-IR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3619424" y="39776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ثبت حضور، راهنمایی، پذیرایی و خدمات مهمان</a:t>
            </a:r>
            <a:endParaRPr lang="fa-IR" sz="1200" dirty="0"/>
          </a:p>
        </p:txBody>
      </p:sp>
      <p:sp>
        <p:nvSpPr>
          <p:cNvPr id="28" name="Shape 22"/>
          <p:cNvSpPr/>
          <p:nvPr/>
        </p:nvSpPr>
        <p:spPr>
          <a:xfrm>
            <a:off x="1832572" y="2788920"/>
            <a:ext cx="0" cy="2743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29" name="team تأمین‌کنندگان"/>
          <p:cNvSpPr/>
          <p:nvPr/>
        </p:nvSpPr>
        <p:spPr>
          <a:xfrm>
            <a:off x="548640" y="3063240"/>
            <a:ext cx="2567864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30" name="team 3 circle"/>
          <p:cNvSpPr/>
          <p:nvPr/>
        </p:nvSpPr>
        <p:spPr>
          <a:xfrm>
            <a:off x="2339264" y="3291840"/>
            <a:ext cx="548640" cy="54864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31" name="team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0937" y="3423514"/>
            <a:ext cx="285293" cy="28529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77240" y="3355848"/>
            <a:ext cx="1424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تأمین‌کنندگان</a:t>
            </a:r>
            <a:endParaRPr lang="fa-IR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397764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chemeClr val="accent3"/>
                </a:solidFill>
              </a:rPr>
              <a:t>غذا، تجهیزات، چاپ، دکور و حمل‌ونقل</a:t>
            </a:r>
            <a:endParaRPr lang="fa-IR" sz="1200" dirty="0"/>
          </a:p>
        </p:txBody>
      </p:sp>
      <p:sp>
        <p:nvSpPr>
          <p:cNvPr id="34" name="rule"/>
          <p:cNvSpPr/>
          <p:nvPr/>
        </p:nvSpPr>
        <p:spPr>
          <a:xfrm>
            <a:off x="548640" y="516636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</p:sp>
      <p:sp>
        <p:nvSpPr>
          <p:cNvPr id="35" name="Shape 28"/>
          <p:cNvSpPr/>
          <p:nvPr/>
        </p:nvSpPr>
        <p:spPr>
          <a:xfrm>
            <a:off x="10865815" y="532180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10865815" y="5321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fa-IR" altLang="en-US" sz="1800" b="1" dirty="0">
                <a:solidFill>
                  <a:schemeClr val="bg1"/>
                </a:solidFill>
              </a:rPr>
              <a:t>A</a:t>
            </a:r>
            <a:endParaRPr lang="fa-IR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822960" y="51663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400" b="1" dirty="0">
                <a:solidFill>
                  <a:schemeClr val="accent2"/>
                </a:solidFill>
              </a:rPr>
              <a:t>قاعده اجرایی:  </a:t>
            </a:r>
            <a:pPr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برای هر فعالیت فقط یک پاسخ‌گوی نهایی تعیین شود؛ چند مالک موازی، ابهام ایجاد می‌کند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پذیرایی و مهمان‌نوازی  |  Catering &amp; Hospitality</a:t>
            </a:r>
            <a:endParaRPr lang="fa-IR" sz="3000" dirty="0"/>
          </a:p>
        </p:txBody>
      </p:sp>
      <p:sp>
        <p:nvSpPr>
          <p:cNvPr id="3" name="catering پذیرایی ورود"/>
          <p:cNvSpPr/>
          <p:nvPr/>
        </p:nvSpPr>
        <p:spPr>
          <a:xfrm>
            <a:off x="8158277" y="1508760"/>
            <a:ext cx="3484778" cy="352044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158277" y="1508760"/>
            <a:ext cx="3484778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8158277" y="2286000"/>
            <a:ext cx="3484778" cy="274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catering 0 circle"/>
          <p:cNvSpPr/>
          <p:nvPr/>
        </p:nvSpPr>
        <p:spPr>
          <a:xfrm>
            <a:off x="10728655" y="1709928"/>
            <a:ext cx="640080" cy="64008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7" name="catering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2274" y="1863547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32597" y="1709928"/>
            <a:ext cx="2113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bg1"/>
                </a:solidFill>
              </a:rPr>
              <a:t>پذیرایی ورود</a:t>
            </a:r>
            <a:endParaRPr lang="fa-IR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703" y="28437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32597" y="278892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نوشیدنی گرم و سرد</a:t>
            </a:r>
            <a:endParaRPr lang="fa-IR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703" y="33741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432597" y="3319272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آب در دسترس</a:t>
            </a:r>
            <a:endParaRPr lang="fa-IR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703" y="39044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32597" y="3849624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شیرینی یا آیتم سبک</a:t>
            </a:r>
            <a:endParaRPr lang="fa-IR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703" y="443484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432597" y="4379976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چیدمان سریع و خوشامدگو</a:t>
            </a:r>
            <a:endParaRPr lang="fa-IR" sz="1400" dirty="0"/>
          </a:p>
        </p:txBody>
      </p:sp>
      <p:sp>
        <p:nvSpPr>
          <p:cNvPr id="17" name="catering وقفه میان‌برنامه"/>
          <p:cNvSpPr/>
          <p:nvPr/>
        </p:nvSpPr>
        <p:spPr>
          <a:xfrm>
            <a:off x="4353458" y="1508760"/>
            <a:ext cx="3484778" cy="352044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353458" y="1508760"/>
            <a:ext cx="3484778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19" name="Shape 12"/>
          <p:cNvSpPr/>
          <p:nvPr/>
        </p:nvSpPr>
        <p:spPr>
          <a:xfrm>
            <a:off x="4353458" y="2286000"/>
            <a:ext cx="3484778" cy="274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catering 1 circle"/>
          <p:cNvSpPr/>
          <p:nvPr/>
        </p:nvSpPr>
        <p:spPr>
          <a:xfrm>
            <a:off x="6923837" y="1709928"/>
            <a:ext cx="640080" cy="64008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21" name="catering 1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1863547"/>
            <a:ext cx="332842" cy="33284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627778" y="1709928"/>
            <a:ext cx="2113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bg1"/>
                </a:solidFill>
              </a:rPr>
              <a:t>وقفه میان‌برنامه</a:t>
            </a:r>
            <a:endParaRPr lang="fa-IR" sz="18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7885" y="2843784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627778" y="278892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قهوه و چای</a:t>
            </a:r>
            <a:endParaRPr lang="fa-IR" sz="14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7885" y="3374136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627778" y="3319272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فینگر فود یا میان‌وعده</a:t>
            </a:r>
            <a:endParaRPr lang="fa-IR" sz="14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7885" y="3904488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627778" y="3849624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مدیریت صف و شارژ مجدد</a:t>
            </a:r>
            <a:endParaRPr lang="fa-IR" sz="14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07885" y="4434840"/>
            <a:ext cx="256032" cy="25603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4627778" y="4379976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تفکیک اقلام رژیمی</a:t>
            </a:r>
            <a:endParaRPr lang="fa-IR" sz="1400" dirty="0"/>
          </a:p>
        </p:txBody>
      </p:sp>
      <p:sp>
        <p:nvSpPr>
          <p:cNvPr id="31" name="catering پایان و شبکه‌سازی"/>
          <p:cNvSpPr/>
          <p:nvPr/>
        </p:nvSpPr>
        <p:spPr>
          <a:xfrm>
            <a:off x="548640" y="1508760"/>
            <a:ext cx="3484778" cy="352044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32" name="Shape 20"/>
          <p:cNvSpPr/>
          <p:nvPr/>
        </p:nvSpPr>
        <p:spPr>
          <a:xfrm>
            <a:off x="548640" y="1508760"/>
            <a:ext cx="3484778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33" name="Shape 21"/>
          <p:cNvSpPr/>
          <p:nvPr/>
        </p:nvSpPr>
        <p:spPr>
          <a:xfrm>
            <a:off x="548640" y="2286000"/>
            <a:ext cx="3484778" cy="274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4" name="catering 2 circle"/>
          <p:cNvSpPr/>
          <p:nvPr/>
        </p:nvSpPr>
        <p:spPr>
          <a:xfrm>
            <a:off x="3119018" y="1709928"/>
            <a:ext cx="640080" cy="64008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35" name="catering 2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2638" y="1863547"/>
            <a:ext cx="332842" cy="33284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822960" y="1709928"/>
            <a:ext cx="2113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800" b="1" dirty="0">
                <a:solidFill>
                  <a:schemeClr val="bg1"/>
                </a:solidFill>
              </a:rPr>
              <a:t>پایان و شبکه‌سازی</a:t>
            </a:r>
            <a:endParaRPr lang="fa-IR" sz="18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3066" y="2843784"/>
            <a:ext cx="256032" cy="256032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22960" y="278892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سرویس منعطف</a:t>
            </a:r>
            <a:endParaRPr lang="fa-IR" sz="1400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3066" y="3374136"/>
            <a:ext cx="256032" cy="25603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822960" y="3319272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آب و نوشیدنی کافی</a:t>
            </a:r>
            <a:endParaRPr lang="fa-IR" sz="14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03066" y="3904488"/>
            <a:ext cx="256032" cy="256032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822960" y="3849624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جمع‌آوری تدریجی</a:t>
            </a:r>
            <a:endParaRPr lang="fa-IR" sz="14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03066" y="4434840"/>
            <a:ext cx="256032" cy="256032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822960" y="4379976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حفظ نظافت فضای تعامل</a:t>
            </a:r>
            <a:endParaRPr lang="fa-IR" sz="1400" dirty="0"/>
          </a:p>
        </p:txBody>
      </p:sp>
      <p:sp>
        <p:nvSpPr>
          <p:cNvPr id="45" name="order basis"/>
          <p:cNvSpPr/>
          <p:nvPr/>
        </p:nvSpPr>
        <p:spPr>
          <a:xfrm>
            <a:off x="548640" y="530352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/>
        </p:spPr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48695" y="5486400"/>
            <a:ext cx="347472" cy="347472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822960" y="530352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400" b="1" dirty="0">
                <a:solidFill>
                  <a:schemeClr val="accent1"/>
                </a:solidFill>
              </a:rPr>
              <a:t>مبنای سفارش:  </a:t>
            </a:r>
            <a:pPr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تعداد قطعی مهمان + عوامل اجرایی + ضریب ذخیره مصوب؛ اعداد نهایی پس از تعیین مدت و ساعت رویداد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آماده‌سازی لوکیشن و کنترل فنی</a:t>
            </a:r>
            <a:endParaRPr lang="fa-IR" sz="3000" dirty="0"/>
          </a:p>
        </p:txBody>
      </p:sp>
      <p:sp>
        <p:nvSpPr>
          <p:cNvPr id="3" name="venue چیدمان و مسیرها"/>
          <p:cNvSpPr/>
          <p:nvPr/>
        </p:nvSpPr>
        <p:spPr>
          <a:xfrm>
            <a:off x="4526280" y="1508760"/>
            <a:ext cx="711677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" name="venue 0 circle"/>
          <p:cNvSpPr/>
          <p:nvPr/>
        </p:nvSpPr>
        <p:spPr>
          <a:xfrm>
            <a:off x="10820095" y="1691640"/>
            <a:ext cx="594360" cy="59436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5" name="venue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2742" y="18342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00600" y="1645920"/>
            <a:ext cx="5928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چیدمان و مسیرها</a:t>
            </a:r>
            <a:endParaRPr lang="fa-IR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00600" y="2011680"/>
            <a:ext cx="5928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ظرفیت واقعی، سناریوی صندلی، مسیر ورود و خروج، دسترسی‌ها</a:t>
            </a:r>
            <a:endParaRPr lang="fa-IR" sz="1300" dirty="0"/>
          </a:p>
        </p:txBody>
      </p:sp>
      <p:sp>
        <p:nvSpPr>
          <p:cNvPr id="8" name="venue صدا و تصویر"/>
          <p:cNvSpPr/>
          <p:nvPr/>
        </p:nvSpPr>
        <p:spPr>
          <a:xfrm>
            <a:off x="4526280" y="2697480"/>
            <a:ext cx="711677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9" name="venue 1 circle"/>
          <p:cNvSpPr/>
          <p:nvPr/>
        </p:nvSpPr>
        <p:spPr>
          <a:xfrm>
            <a:off x="10820095" y="2880360"/>
            <a:ext cx="594360" cy="59436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10" name="venue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742" y="30230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00600" y="2834640"/>
            <a:ext cx="5928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صدا و تصویر</a:t>
            </a:r>
            <a:endParaRPr lang="fa-IR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00600" y="3200400"/>
            <a:ext cx="5928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میکروفن‌ها، اسپیکر، نمایشگر، لپ‌تاپ و نسخه پشتیبان</a:t>
            </a:r>
            <a:endParaRPr lang="fa-IR" sz="1300" dirty="0"/>
          </a:p>
        </p:txBody>
      </p:sp>
      <p:sp>
        <p:nvSpPr>
          <p:cNvPr id="13" name="venue برق و اینترنت"/>
          <p:cNvSpPr/>
          <p:nvPr/>
        </p:nvSpPr>
        <p:spPr>
          <a:xfrm>
            <a:off x="4526280" y="3886200"/>
            <a:ext cx="711677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4" name="venue 2 circle"/>
          <p:cNvSpPr/>
          <p:nvPr/>
        </p:nvSpPr>
        <p:spPr>
          <a:xfrm>
            <a:off x="10820095" y="4069080"/>
            <a:ext cx="594360" cy="59436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15" name="venu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2742" y="421172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4023360"/>
            <a:ext cx="5928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برق و اینترنت</a:t>
            </a:r>
            <a:endParaRPr lang="fa-IR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4389120"/>
            <a:ext cx="5928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پریزها، کابل‌کشی ایمن، اینترنت اصلی و جایگزین</a:t>
            </a:r>
            <a:endParaRPr lang="fa-IR" sz="1300" dirty="0"/>
          </a:p>
        </p:txBody>
      </p:sp>
      <p:sp>
        <p:nvSpPr>
          <p:cNvPr id="18" name="venue نشانه‌گذاری"/>
          <p:cNvSpPr/>
          <p:nvPr/>
        </p:nvSpPr>
        <p:spPr>
          <a:xfrm>
            <a:off x="4526280" y="5074920"/>
            <a:ext cx="711677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9" name="venue 3 circle"/>
          <p:cNvSpPr/>
          <p:nvPr/>
        </p:nvSpPr>
        <p:spPr>
          <a:xfrm>
            <a:off x="10820095" y="5257800"/>
            <a:ext cx="594360" cy="59436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20" name="venue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742" y="540044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00600" y="5212080"/>
            <a:ext cx="5928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نشانه‌گذاری</a:t>
            </a:r>
            <a:endParaRPr lang="fa-IR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00600" y="5577840"/>
            <a:ext cx="59280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تابلو ورودی، پذیرش، سرویس‌ها، سالن و مسیر خروج</a:t>
            </a:r>
            <a:endParaRPr lang="fa-IR" sz="1300" dirty="0"/>
          </a:p>
        </p:txBody>
      </p:sp>
      <p:sp>
        <p:nvSpPr>
          <p:cNvPr id="23" name="final test panel"/>
          <p:cNvSpPr/>
          <p:nvPr/>
        </p:nvSpPr>
        <p:spPr>
          <a:xfrm>
            <a:off x="548640" y="1508760"/>
            <a:ext cx="3657600" cy="452628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4" name="final test circle"/>
          <p:cNvSpPr/>
          <p:nvPr/>
        </p:nvSpPr>
        <p:spPr>
          <a:xfrm>
            <a:off x="2926080" y="1828800"/>
            <a:ext cx="914400" cy="91440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25" name="final tes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536" y="2048256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1440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b="1" dirty="0">
                <a:solidFill>
                  <a:schemeClr val="accent2"/>
                </a:solidFill>
              </a:rPr>
              <a:t>گام پنجم</a:t>
            </a:r>
            <a:endParaRPr lang="fa-IR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914400" y="3291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2800" b="1" dirty="0">
                <a:solidFill>
                  <a:schemeClr val="bg1"/>
                </a:solidFill>
              </a:rPr>
              <a:t>تست نهایی</a:t>
            </a:r>
            <a:endParaRPr lang="fa-IR" sz="2800" dirty="0"/>
          </a:p>
        </p:txBody>
      </p:sp>
      <p:sp>
        <p:nvSpPr>
          <p:cNvPr id="28" name="Text 21"/>
          <p:cNvSpPr txBox="1"/>
          <p:nvPr/>
        </p:nvSpPr>
        <p:spPr>
          <a:xfrm>
            <a:off x="91440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rgbClr val="D5DEE6"/>
                </a:solidFill>
              </a:rPr>
              <a:t>تست کامل با فایل‌های واقعی و حضور عوامل کلیدی</a:t>
            </a:r>
            <a:endParaRPr lang="fa-IR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91440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dirty="0">
                <a:solidFill>
                  <a:srgbClr val="8FA3B5"/>
                </a:solidFill>
              </a:rPr>
              <a:t>پیش از ورود مهمانان، هر چهار حوزه کنار با هم و در شرایط واقعی تأیید می‌شوند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چارچوب بودجه و کنترل هزینه</a:t>
            </a:r>
            <a:endParaRPr lang="fa-IR" sz="3000" dirty="0"/>
          </a:p>
        </p:txBody>
      </p:sp>
      <p:sp>
        <p:nvSpPr>
          <p:cNvPr id="3" name="budget لوکیشن و زیرساخت"/>
          <p:cNvSpPr/>
          <p:nvPr/>
        </p:nvSpPr>
        <p:spPr>
          <a:xfrm>
            <a:off x="8127797" y="150876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4" name="budget 0 circle"/>
          <p:cNvSpPr/>
          <p:nvPr/>
        </p:nvSpPr>
        <p:spPr>
          <a:xfrm>
            <a:off x="10774375" y="178308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5" name="budget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994" y="19366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02117" y="1737360"/>
            <a:ext cx="2189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لوکیشن و زیرساخت</a:t>
            </a:r>
            <a:endParaRPr lang="fa-IR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402117" y="2148840"/>
            <a:ext cx="2189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اجاره، چیدمان، خدمات محل</a:t>
            </a:r>
            <a:endParaRPr lang="fa-IR" sz="1300" dirty="0"/>
          </a:p>
        </p:txBody>
      </p:sp>
      <p:sp>
        <p:nvSpPr>
          <p:cNvPr id="8" name="budget پذیرایی"/>
          <p:cNvSpPr/>
          <p:nvPr/>
        </p:nvSpPr>
        <p:spPr>
          <a:xfrm>
            <a:off x="4338218" y="150876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9" name="budget 1 circle"/>
          <p:cNvSpPr/>
          <p:nvPr/>
        </p:nvSpPr>
        <p:spPr>
          <a:xfrm>
            <a:off x="6984797" y="178308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10" name="budge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416" y="19366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1737360"/>
            <a:ext cx="2189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پذیرایی</a:t>
            </a:r>
            <a:endParaRPr lang="fa-IR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148840"/>
            <a:ext cx="2189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منو، تعداد، سرویس‌دهی</a:t>
            </a:r>
            <a:endParaRPr lang="fa-IR" sz="1300" dirty="0"/>
          </a:p>
        </p:txBody>
      </p:sp>
      <p:sp>
        <p:nvSpPr>
          <p:cNvPr id="13" name="budget تولید و فنی"/>
          <p:cNvSpPr/>
          <p:nvPr/>
        </p:nvSpPr>
        <p:spPr>
          <a:xfrm>
            <a:off x="548640" y="150876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4" name="budget 2 circle"/>
          <p:cNvSpPr/>
          <p:nvPr/>
        </p:nvSpPr>
        <p:spPr>
          <a:xfrm>
            <a:off x="3195218" y="178308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15" name="budge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838" y="19366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1737360"/>
            <a:ext cx="2189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تولید و فنی</a:t>
            </a:r>
            <a:endParaRPr lang="fa-IR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2148840"/>
            <a:ext cx="2189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صدا، تصویر، نور، اینترنت</a:t>
            </a:r>
            <a:endParaRPr lang="fa-IR" sz="1300" dirty="0"/>
          </a:p>
        </p:txBody>
      </p:sp>
      <p:sp>
        <p:nvSpPr>
          <p:cNvPr id="18" name="budget برندینگ و چاپ"/>
          <p:cNvSpPr/>
          <p:nvPr/>
        </p:nvSpPr>
        <p:spPr>
          <a:xfrm>
            <a:off x="8127797" y="297180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9" name="budget 3 circle"/>
          <p:cNvSpPr/>
          <p:nvPr/>
        </p:nvSpPr>
        <p:spPr>
          <a:xfrm>
            <a:off x="10774375" y="324612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20" name="budge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994" y="339973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402117" y="3200400"/>
            <a:ext cx="2189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برندینگ و چاپ</a:t>
            </a:r>
            <a:endParaRPr lang="fa-IR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402117" y="3611880"/>
            <a:ext cx="2189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تابلو، استند، اقلام چاپی</a:t>
            </a:r>
            <a:endParaRPr lang="fa-IR" sz="1300" dirty="0"/>
          </a:p>
        </p:txBody>
      </p:sp>
      <p:sp>
        <p:nvSpPr>
          <p:cNvPr id="23" name="budget نیروی انسانی"/>
          <p:cNvSpPr/>
          <p:nvPr/>
        </p:nvSpPr>
        <p:spPr>
          <a:xfrm>
            <a:off x="4338218" y="297180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4" name="budget 4 circle"/>
          <p:cNvSpPr/>
          <p:nvPr/>
        </p:nvSpPr>
        <p:spPr>
          <a:xfrm>
            <a:off x="6984797" y="3246120"/>
            <a:ext cx="640080" cy="640080"/>
          </a:xfrm>
          <a:prstGeom prst="ellipse">
            <a:avLst/>
          </a:prstGeom>
          <a:solidFill>
            <a:srgbClr val="1D6B73"/>
          </a:solidFill>
          <a:ln/>
        </p:spPr>
      </p:sp>
      <p:pic>
        <p:nvPicPr>
          <p:cNvPr id="25" name="budget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416" y="339973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12538" y="3200400"/>
            <a:ext cx="2189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نیروی انسانی</a:t>
            </a:r>
            <a:endParaRPr lang="fa-IR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3611880"/>
            <a:ext cx="2189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پذیرش، تشریفات، پشتیبانی</a:t>
            </a:r>
            <a:endParaRPr lang="fa-IR" sz="1300" dirty="0"/>
          </a:p>
        </p:txBody>
      </p:sp>
      <p:sp>
        <p:nvSpPr>
          <p:cNvPr id="28" name="budget ذخیره ریسک"/>
          <p:cNvSpPr/>
          <p:nvPr/>
        </p:nvSpPr>
        <p:spPr>
          <a:xfrm>
            <a:off x="548640" y="297180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9" name="budget 5 circle"/>
          <p:cNvSpPr/>
          <p:nvPr/>
        </p:nvSpPr>
        <p:spPr>
          <a:xfrm>
            <a:off x="3195218" y="3246120"/>
            <a:ext cx="640080" cy="640080"/>
          </a:xfrm>
          <a:prstGeom prst="ellipse">
            <a:avLst/>
          </a:prstGeom>
          <a:solidFill>
            <a:srgbClr val="C79A3E"/>
          </a:solidFill>
          <a:ln/>
        </p:spPr>
      </p:sp>
      <p:pic>
        <p:nvPicPr>
          <p:cNvPr id="30" name="budget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838" y="339973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22960" y="3200400"/>
            <a:ext cx="21893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ذخیره ریسک</a:t>
            </a:r>
            <a:endParaRPr lang="fa-IR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2960" y="3611880"/>
            <a:ext cx="2189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chemeClr val="accent3"/>
                </a:solidFill>
              </a:rPr>
              <a:t>هزینه‌های پیش‌بینی‌نشده</a:t>
            </a:r>
            <a:endParaRPr lang="fa-IR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کنترل مدیریتی: برای هر ردیف بودجه، این پنج ستون ثبت شود</a:t>
            </a:r>
            <a:endParaRPr lang="fa-IR" sz="1500" dirty="0"/>
          </a:p>
        </p:txBody>
      </p:sp>
      <p:sp>
        <p:nvSpPr>
          <p:cNvPr id="34" name="flow برآورد اولیه"/>
          <p:cNvSpPr/>
          <p:nvPr/>
        </p:nvSpPr>
        <p:spPr>
          <a:xfrm>
            <a:off x="9753356" y="4892040"/>
            <a:ext cx="1889699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9936236" y="4983480"/>
            <a:ext cx="1523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۱</a:t>
            </a:r>
            <a:endParaRPr lang="fa-IR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9936236" y="5257800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bg1"/>
                </a:solidFill>
              </a:rPr>
              <a:t>برآورد اولیه</a:t>
            </a:r>
            <a:endParaRPr lang="fa-IR" sz="15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6740" y="5170932"/>
            <a:ext cx="310896" cy="310896"/>
          </a:xfrm>
          <a:prstGeom prst="rect">
            <a:avLst/>
          </a:prstGeom>
        </p:spPr>
      </p:pic>
      <p:sp>
        <p:nvSpPr>
          <p:cNvPr id="38" name="flow پیشنهاد تأمین‌کننده"/>
          <p:cNvSpPr/>
          <p:nvPr/>
        </p:nvSpPr>
        <p:spPr>
          <a:xfrm>
            <a:off x="7452177" y="4892040"/>
            <a:ext cx="1889699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39" name="Text 30"/>
          <p:cNvSpPr txBox="1"/>
          <p:nvPr/>
        </p:nvSpPr>
        <p:spPr>
          <a:xfrm>
            <a:off x="7635057" y="4983480"/>
            <a:ext cx="1523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۲</a:t>
            </a:r>
            <a:endParaRPr lang="fa-IR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7635057" y="5257800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bg1"/>
                </a:solidFill>
              </a:rPr>
              <a:t>پیشنهاد تأمین‌کننده</a:t>
            </a:r>
            <a:endParaRPr lang="fa-IR" sz="15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5561" y="5170932"/>
            <a:ext cx="310896" cy="310896"/>
          </a:xfrm>
          <a:prstGeom prst="rect">
            <a:avLst/>
          </a:prstGeom>
        </p:spPr>
      </p:pic>
      <p:sp>
        <p:nvSpPr>
          <p:cNvPr id="42" name="flow مبلغ مصوب"/>
          <p:cNvSpPr/>
          <p:nvPr/>
        </p:nvSpPr>
        <p:spPr>
          <a:xfrm>
            <a:off x="5150998" y="4892040"/>
            <a:ext cx="1889699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5333878" y="4983480"/>
            <a:ext cx="1523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۳</a:t>
            </a:r>
            <a:endParaRPr lang="fa-IR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5333878" y="5257800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bg1"/>
                </a:solidFill>
              </a:rPr>
              <a:t>مبلغ مصوب</a:t>
            </a:r>
            <a:endParaRPr lang="fa-IR" sz="1500" dirty="0"/>
          </a:p>
        </p:txBody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4382" y="5170932"/>
            <a:ext cx="310896" cy="310896"/>
          </a:xfrm>
          <a:prstGeom prst="rect">
            <a:avLst/>
          </a:prstGeom>
        </p:spPr>
      </p:pic>
      <p:sp>
        <p:nvSpPr>
          <p:cNvPr id="46" name="flow هزینه واقعی"/>
          <p:cNvSpPr/>
          <p:nvPr/>
        </p:nvSpPr>
        <p:spPr>
          <a:xfrm>
            <a:off x="2849819" y="4892040"/>
            <a:ext cx="1889699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47" name="Text 36"/>
          <p:cNvSpPr txBox="1"/>
          <p:nvPr/>
        </p:nvSpPr>
        <p:spPr>
          <a:xfrm>
            <a:off x="3032699" y="4983480"/>
            <a:ext cx="1523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۴</a:t>
            </a:r>
            <a:endParaRPr lang="fa-IR" sz="1100" dirty="0"/>
          </a:p>
        </p:txBody>
      </p:sp>
      <p:sp>
        <p:nvSpPr>
          <p:cNvPr id="48" name="Text 37"/>
          <p:cNvSpPr txBox="1"/>
          <p:nvPr/>
        </p:nvSpPr>
        <p:spPr>
          <a:xfrm>
            <a:off x="3032699" y="5257800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bg1"/>
                </a:solidFill>
              </a:rPr>
              <a:t>هزینه واقعی</a:t>
            </a:r>
            <a:endParaRPr lang="fa-IR" sz="150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3203" y="5170932"/>
            <a:ext cx="310896" cy="310896"/>
          </a:xfrm>
          <a:prstGeom prst="rect">
            <a:avLst/>
          </a:prstGeom>
        </p:spPr>
      </p:pic>
      <p:sp>
        <p:nvSpPr>
          <p:cNvPr id="50" name="flow انحراف"/>
          <p:cNvSpPr/>
          <p:nvPr/>
        </p:nvSpPr>
        <p:spPr>
          <a:xfrm>
            <a:off x="548640" y="4892040"/>
            <a:ext cx="1889699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/>
        </p:spPr>
      </p:sp>
      <p:sp>
        <p:nvSpPr>
          <p:cNvPr id="51" name="Text 39"/>
          <p:cNvSpPr txBox="1"/>
          <p:nvPr/>
        </p:nvSpPr>
        <p:spPr>
          <a:xfrm>
            <a:off x="731520" y="4983480"/>
            <a:ext cx="15239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100" b="1" dirty="0">
                <a:solidFill>
                  <a:schemeClr val="tx2"/>
                </a:solidFill>
              </a:rPr>
              <a:t>۵</a:t>
            </a:r>
            <a:endParaRPr lang="fa-IR" sz="1100" dirty="0"/>
          </a:p>
        </p:txBody>
      </p:sp>
      <p:sp>
        <p:nvSpPr>
          <p:cNvPr id="52" name="Text 40"/>
          <p:cNvSpPr txBox="1"/>
          <p:nvPr/>
        </p:nvSpPr>
        <p:spPr>
          <a:xfrm>
            <a:off x="731520" y="5257800"/>
            <a:ext cx="15239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انحراف</a:t>
            </a:r>
            <a:endParaRPr lang="fa-I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مدیریت ریسک و سناریوهای جایگزین</a:t>
            </a:r>
            <a:endParaRPr lang="fa-IR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985455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b="1" dirty="0">
                <a:solidFill>
                  <a:schemeClr val="accent3"/>
                </a:solidFill>
              </a:rPr>
              <a:t>ریسک</a:t>
            </a:r>
            <a:endParaRPr lang="fa-I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200" b="1" dirty="0">
                <a:solidFill>
                  <a:schemeClr val="accent3"/>
                </a:solidFill>
              </a:rPr>
              <a:t>اقدام پیشگیرانه / پلن جایگزین</a:t>
            </a:r>
            <a:endParaRPr lang="fa-IR" sz="1200" dirty="0"/>
          </a:p>
        </p:txBody>
      </p:sp>
      <p:sp>
        <p:nvSpPr>
          <p:cNvPr id="5" name="risk تأخیر در شروع"/>
          <p:cNvSpPr/>
          <p:nvPr/>
        </p:nvSpPr>
        <p:spPr>
          <a:xfrm>
            <a:off x="548640" y="173736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6" name="risk 0 circle"/>
          <p:cNvSpPr/>
          <p:nvPr/>
        </p:nvSpPr>
        <p:spPr>
          <a:xfrm>
            <a:off x="10902391" y="1883664"/>
            <a:ext cx="512064" cy="512064"/>
          </a:xfrm>
          <a:prstGeom prst="ellipse">
            <a:avLst/>
          </a:prstGeom>
          <a:solidFill>
            <a:srgbClr val="F7EEDB"/>
          </a:solidFill>
          <a:ln/>
        </p:spPr>
      </p:sp>
      <p:pic>
        <p:nvPicPr>
          <p:cNvPr id="7" name="risk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287" y="2006559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85455" y="173736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تأخیر در شروع</a:t>
            </a:r>
            <a:endParaRPr lang="fa-IR" sz="1500" dirty="0"/>
          </a:p>
        </p:txBody>
      </p:sp>
      <p:sp>
        <p:nvSpPr>
          <p:cNvPr id="9" name="Shape 6"/>
          <p:cNvSpPr/>
          <p:nvPr/>
        </p:nvSpPr>
        <p:spPr>
          <a:xfrm>
            <a:off x="7756855" y="1920240"/>
            <a:ext cx="0" cy="43891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6659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بافر زمانی، حضور زودهنگام عوامل، کوتاه‌سازی بخش‌های قابل انعطاف</a:t>
            </a:r>
            <a:endParaRPr lang="fa-IR" sz="1400" dirty="0"/>
          </a:p>
        </p:txBody>
      </p:sp>
      <p:sp>
        <p:nvSpPr>
          <p:cNvPr id="11" name="risk اختلال فنی"/>
          <p:cNvSpPr/>
          <p:nvPr/>
        </p:nvSpPr>
        <p:spPr>
          <a:xfrm>
            <a:off x="548640" y="269748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2" name="risk 1 circle"/>
          <p:cNvSpPr/>
          <p:nvPr/>
        </p:nvSpPr>
        <p:spPr>
          <a:xfrm>
            <a:off x="10902391" y="2843784"/>
            <a:ext cx="512064" cy="512064"/>
          </a:xfrm>
          <a:prstGeom prst="ellipse">
            <a:avLst/>
          </a:prstGeom>
          <a:solidFill>
            <a:srgbClr val="F7EEDB"/>
          </a:solidFill>
          <a:ln/>
        </p:spPr>
      </p:sp>
      <p:pic>
        <p:nvPicPr>
          <p:cNvPr id="13" name="risk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287" y="2966679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985455" y="2697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اختلال فنی</a:t>
            </a:r>
            <a:endParaRPr lang="fa-IR" sz="1500" dirty="0"/>
          </a:p>
        </p:txBody>
      </p:sp>
      <p:sp>
        <p:nvSpPr>
          <p:cNvPr id="15" name="Shape 11"/>
          <p:cNvSpPr/>
          <p:nvPr/>
        </p:nvSpPr>
        <p:spPr>
          <a:xfrm>
            <a:off x="7756855" y="2880360"/>
            <a:ext cx="0" cy="43891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2697480"/>
            <a:ext cx="6659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میکروفن / لپ‌تاپ / کابل جایگزین، فایل آفلاین، مسئول فنی مشخص</a:t>
            </a:r>
            <a:endParaRPr lang="fa-IR" sz="1400" dirty="0"/>
          </a:p>
        </p:txBody>
      </p:sp>
      <p:sp>
        <p:nvSpPr>
          <p:cNvPr id="17" name="risk افزایش یا کاهش مهمان"/>
          <p:cNvSpPr/>
          <p:nvPr/>
        </p:nvSpPr>
        <p:spPr>
          <a:xfrm>
            <a:off x="548640" y="365760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8" name="risk 2 circle"/>
          <p:cNvSpPr/>
          <p:nvPr/>
        </p:nvSpPr>
        <p:spPr>
          <a:xfrm>
            <a:off x="10902391" y="3803904"/>
            <a:ext cx="512064" cy="512064"/>
          </a:xfrm>
          <a:prstGeom prst="ellipse">
            <a:avLst/>
          </a:prstGeom>
          <a:solidFill>
            <a:srgbClr val="F7EEDB"/>
          </a:solidFill>
          <a:ln/>
        </p:spPr>
      </p:sp>
      <p:pic>
        <p:nvPicPr>
          <p:cNvPr id="19" name="risk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5287" y="3926799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85455" y="365760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افزایش یا کاهش مهمان</a:t>
            </a:r>
            <a:endParaRPr lang="fa-IR" sz="1500" dirty="0"/>
          </a:p>
        </p:txBody>
      </p:sp>
      <p:sp>
        <p:nvSpPr>
          <p:cNvPr id="21" name="Shape 16"/>
          <p:cNvSpPr/>
          <p:nvPr/>
        </p:nvSpPr>
        <p:spPr>
          <a:xfrm>
            <a:off x="7756855" y="3840480"/>
            <a:ext cx="0" cy="43891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3657600"/>
            <a:ext cx="6659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ظرفیت شناور، تأیید نهایی تعداد، اقلام ذخیره کنترل‌شده</a:t>
            </a:r>
            <a:endParaRPr lang="fa-IR" sz="1400" dirty="0"/>
          </a:p>
        </p:txBody>
      </p:sp>
      <p:sp>
        <p:nvSpPr>
          <p:cNvPr id="23" name="risk تأخیر تأمین‌کننده"/>
          <p:cNvSpPr/>
          <p:nvPr/>
        </p:nvSpPr>
        <p:spPr>
          <a:xfrm>
            <a:off x="548640" y="461772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4" name="risk 3 circle"/>
          <p:cNvSpPr/>
          <p:nvPr/>
        </p:nvSpPr>
        <p:spPr>
          <a:xfrm>
            <a:off x="10902391" y="4764024"/>
            <a:ext cx="512064" cy="512064"/>
          </a:xfrm>
          <a:prstGeom prst="ellipse">
            <a:avLst/>
          </a:prstGeom>
          <a:solidFill>
            <a:srgbClr val="F7EEDB"/>
          </a:solidFill>
          <a:ln/>
        </p:spPr>
      </p:sp>
      <p:pic>
        <p:nvPicPr>
          <p:cNvPr id="25" name="risk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5287" y="4886919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985455" y="461772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تأخیر تأمین‌کننده</a:t>
            </a:r>
            <a:endParaRPr lang="fa-IR" sz="1500" dirty="0"/>
          </a:p>
        </p:txBody>
      </p:sp>
      <p:sp>
        <p:nvSpPr>
          <p:cNvPr id="27" name="Shape 21"/>
          <p:cNvSpPr/>
          <p:nvPr/>
        </p:nvSpPr>
        <p:spPr>
          <a:xfrm>
            <a:off x="7756855" y="4800600"/>
            <a:ext cx="0" cy="43891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4617720"/>
            <a:ext cx="6659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زمان تحویل مکتوب، شماره تماس جایگزین، آیتم جایگزین</a:t>
            </a:r>
            <a:endParaRPr lang="fa-IR" sz="1400" dirty="0"/>
          </a:p>
        </p:txBody>
      </p:sp>
      <p:sp>
        <p:nvSpPr>
          <p:cNvPr id="29" name="risk شرایط اضطراری"/>
          <p:cNvSpPr/>
          <p:nvPr/>
        </p:nvSpPr>
        <p:spPr>
          <a:xfrm>
            <a:off x="548640" y="557784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30" name="risk 4 circle"/>
          <p:cNvSpPr/>
          <p:nvPr/>
        </p:nvSpPr>
        <p:spPr>
          <a:xfrm>
            <a:off x="10902391" y="5724144"/>
            <a:ext cx="512064" cy="512064"/>
          </a:xfrm>
          <a:prstGeom prst="ellipse">
            <a:avLst/>
          </a:prstGeom>
          <a:solidFill>
            <a:srgbClr val="B4533A"/>
          </a:solidFill>
          <a:ln/>
        </p:spPr>
      </p:sp>
      <p:pic>
        <p:nvPicPr>
          <p:cNvPr id="31" name="risk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5287" y="5847039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985455" y="55778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tx2"/>
                </a:solidFill>
              </a:rPr>
              <a:t>شرایط اضطراری</a:t>
            </a:r>
            <a:endParaRPr lang="fa-IR" sz="1500" dirty="0"/>
          </a:p>
        </p:txBody>
      </p:sp>
      <p:sp>
        <p:nvSpPr>
          <p:cNvPr id="33" name="Shape 26"/>
          <p:cNvSpPr/>
          <p:nvPr/>
        </p:nvSpPr>
        <p:spPr>
          <a:xfrm>
            <a:off x="7756855" y="5760720"/>
            <a:ext cx="0" cy="438912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22960" y="5577840"/>
            <a:ext cx="6659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مسیر خروج، کمک‌های اولیه، مسئول ارتباط با محل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tx2"/>
                </a:solidFill>
              </a:rPr>
              <a:t>داشبورد کنترل روز رویداد</a:t>
            </a:r>
            <a:endParaRPr lang="fa-IR" sz="3000" dirty="0"/>
          </a:p>
        </p:txBody>
      </p:sp>
      <p:sp>
        <p:nvSpPr>
          <p:cNvPr id="3" name="Shape 1"/>
          <p:cNvSpPr/>
          <p:nvPr/>
        </p:nvSpPr>
        <p:spPr>
          <a:xfrm>
            <a:off x="1473175" y="2514600"/>
            <a:ext cx="924534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time 0"/>
          <p:cNvSpPr/>
          <p:nvPr/>
        </p:nvSpPr>
        <p:spPr>
          <a:xfrm>
            <a:off x="9903714" y="1508760"/>
            <a:ext cx="1629613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03714" y="1508760"/>
            <a:ext cx="16296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chemeClr val="bg1"/>
                </a:solidFill>
              </a:rPr>
              <a:t>T-180 تا T-120</a:t>
            </a:r>
            <a:endParaRPr lang="fa-IR" sz="1300" dirty="0"/>
          </a:p>
        </p:txBody>
      </p:sp>
      <p:sp>
        <p:nvSpPr>
          <p:cNvPr id="6" name="Shape 4"/>
          <p:cNvSpPr/>
          <p:nvPr/>
        </p:nvSpPr>
        <p:spPr>
          <a:xfrm>
            <a:off x="10563073" y="2359152"/>
            <a:ext cx="310896" cy="310896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7" name="phase 0"/>
          <p:cNvSpPr/>
          <p:nvPr/>
        </p:nvSpPr>
        <p:spPr>
          <a:xfrm>
            <a:off x="9867138" y="2971800"/>
            <a:ext cx="170276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22586" y="3154680"/>
            <a:ext cx="13918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تحویل محل، چیدمان، نصب و تست اولیه</a:t>
            </a:r>
            <a:endParaRPr lang="fa-IR" sz="1400" dirty="0"/>
          </a:p>
        </p:txBody>
      </p:sp>
      <p:sp>
        <p:nvSpPr>
          <p:cNvPr id="9" name="time 1"/>
          <p:cNvSpPr/>
          <p:nvPr/>
        </p:nvSpPr>
        <p:spPr>
          <a:xfrm>
            <a:off x="8054645" y="1508760"/>
            <a:ext cx="1629613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54645" y="1508760"/>
            <a:ext cx="16296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chemeClr val="bg1"/>
                </a:solidFill>
              </a:rPr>
              <a:t>T-120 تا T-60</a:t>
            </a:r>
            <a:endParaRPr lang="fa-IR" sz="1300" dirty="0"/>
          </a:p>
        </p:txBody>
      </p:sp>
      <p:sp>
        <p:nvSpPr>
          <p:cNvPr id="11" name="Shape 9"/>
          <p:cNvSpPr/>
          <p:nvPr/>
        </p:nvSpPr>
        <p:spPr>
          <a:xfrm>
            <a:off x="8714003" y="2359152"/>
            <a:ext cx="310896" cy="310896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2" name="phase 1"/>
          <p:cNvSpPr/>
          <p:nvPr/>
        </p:nvSpPr>
        <p:spPr>
          <a:xfrm>
            <a:off x="8018069" y="2971800"/>
            <a:ext cx="170276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173517" y="3154680"/>
            <a:ext cx="13918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تست صدا/تصویر، آماده‌سازی پذیرش و پذیرایی</a:t>
            </a:r>
            <a:endParaRPr lang="fa-IR" sz="1400" dirty="0"/>
          </a:p>
        </p:txBody>
      </p:sp>
      <p:sp>
        <p:nvSpPr>
          <p:cNvPr id="14" name="time 2"/>
          <p:cNvSpPr/>
          <p:nvPr/>
        </p:nvSpPr>
        <p:spPr>
          <a:xfrm>
            <a:off x="6205576" y="1508760"/>
            <a:ext cx="1629613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576" y="1508760"/>
            <a:ext cx="16296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chemeClr val="bg1"/>
                </a:solidFill>
              </a:rPr>
              <a:t>T-60 تا T-15</a:t>
            </a:r>
            <a:endParaRPr lang="fa-IR" sz="1300" dirty="0"/>
          </a:p>
        </p:txBody>
      </p:sp>
      <p:sp>
        <p:nvSpPr>
          <p:cNvPr id="16" name="Shape 14"/>
          <p:cNvSpPr/>
          <p:nvPr/>
        </p:nvSpPr>
        <p:spPr>
          <a:xfrm>
            <a:off x="6864934" y="2359152"/>
            <a:ext cx="310896" cy="310896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7" name="phase 2"/>
          <p:cNvSpPr/>
          <p:nvPr/>
        </p:nvSpPr>
        <p:spPr>
          <a:xfrm>
            <a:off x="6169000" y="2971800"/>
            <a:ext cx="170276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13918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جلسه توجیه عوامل، مرور سناریو و تماس‌ها</a:t>
            </a:r>
            <a:endParaRPr lang="fa-IR" sz="1400" dirty="0"/>
          </a:p>
        </p:txBody>
      </p:sp>
      <p:sp>
        <p:nvSpPr>
          <p:cNvPr id="19" name="time 3"/>
          <p:cNvSpPr/>
          <p:nvPr/>
        </p:nvSpPr>
        <p:spPr>
          <a:xfrm>
            <a:off x="4356506" y="1508760"/>
            <a:ext cx="1629613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356506" y="1508760"/>
            <a:ext cx="16296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chemeClr val="bg1"/>
                </a:solidFill>
              </a:rPr>
              <a:t>T-15 تا شروع</a:t>
            </a:r>
            <a:endParaRPr lang="fa-IR" sz="1300" dirty="0"/>
          </a:p>
        </p:txBody>
      </p:sp>
      <p:sp>
        <p:nvSpPr>
          <p:cNvPr id="21" name="Shape 19"/>
          <p:cNvSpPr/>
          <p:nvPr/>
        </p:nvSpPr>
        <p:spPr>
          <a:xfrm>
            <a:off x="5015865" y="2359152"/>
            <a:ext cx="310896" cy="310896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2" name="phase 3"/>
          <p:cNvSpPr/>
          <p:nvPr/>
        </p:nvSpPr>
        <p:spPr>
          <a:xfrm>
            <a:off x="4319930" y="2971800"/>
            <a:ext cx="170276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475378" y="3154680"/>
            <a:ext cx="13918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آماده‌باش پذیرش، کنترل نهایی سالن و صحنه</a:t>
            </a:r>
            <a:endParaRPr lang="fa-IR" sz="1400" dirty="0"/>
          </a:p>
        </p:txBody>
      </p:sp>
      <p:sp>
        <p:nvSpPr>
          <p:cNvPr id="24" name="time 4"/>
          <p:cNvSpPr/>
          <p:nvPr/>
        </p:nvSpPr>
        <p:spPr>
          <a:xfrm>
            <a:off x="2507437" y="1508760"/>
            <a:ext cx="1629613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507437" y="1508760"/>
            <a:ext cx="16296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chemeClr val="tx2"/>
                </a:solidFill>
              </a:rPr>
              <a:t>حین رویداد</a:t>
            </a:r>
            <a:endParaRPr lang="fa-IR" sz="1300" dirty="0"/>
          </a:p>
        </p:txBody>
      </p:sp>
      <p:sp>
        <p:nvSpPr>
          <p:cNvPr id="26" name="Shape 24"/>
          <p:cNvSpPr/>
          <p:nvPr/>
        </p:nvSpPr>
        <p:spPr>
          <a:xfrm>
            <a:off x="3166796" y="2359152"/>
            <a:ext cx="310896" cy="310896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27" name="phase 4"/>
          <p:cNvSpPr/>
          <p:nvPr/>
        </p:nvSpPr>
        <p:spPr>
          <a:xfrm>
            <a:off x="2470861" y="2971800"/>
            <a:ext cx="1702765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2626309" y="3154680"/>
            <a:ext cx="13918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کنترل کنداکتور، هماهنگی بین تیم‌ها، ثبت رخدادها</a:t>
            </a:r>
            <a:endParaRPr lang="fa-IR" sz="1400" dirty="0"/>
          </a:p>
        </p:txBody>
      </p:sp>
      <p:sp>
        <p:nvSpPr>
          <p:cNvPr id="29" name="time 5"/>
          <p:cNvSpPr/>
          <p:nvPr/>
        </p:nvSpPr>
        <p:spPr>
          <a:xfrm>
            <a:off x="658368" y="1508760"/>
            <a:ext cx="1629613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1508760"/>
            <a:ext cx="16296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1300" b="1" dirty="0">
                <a:solidFill>
                  <a:schemeClr val="bg1"/>
                </a:solidFill>
              </a:rPr>
              <a:t>پس از پایان</a:t>
            </a:r>
            <a:endParaRPr lang="fa-IR" sz="1300" dirty="0"/>
          </a:p>
        </p:txBody>
      </p:sp>
      <p:sp>
        <p:nvSpPr>
          <p:cNvPr id="31" name="Shape 29"/>
          <p:cNvSpPr/>
          <p:nvPr/>
        </p:nvSpPr>
        <p:spPr>
          <a:xfrm>
            <a:off x="1317727" y="2359152"/>
            <a:ext cx="310896" cy="310896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32" name="phase 5"/>
          <p:cNvSpPr/>
          <p:nvPr/>
        </p:nvSpPr>
        <p:spPr>
          <a:xfrm>
            <a:off x="621792" y="2971800"/>
            <a:ext cx="170276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2433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77240" y="3154680"/>
            <a:ext cx="139186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خروج مهمان، جمع‌آوری، تحویل محل و گزارش</a:t>
            </a:r>
            <a:endParaRPr lang="fa-IR" sz="1400" dirty="0"/>
          </a:p>
        </p:txBody>
      </p:sp>
      <p:sp>
        <p:nvSpPr>
          <p:cNvPr id="34" name="stat 0"/>
          <p:cNvSpPr/>
          <p:nvPr/>
        </p:nvSpPr>
        <p:spPr>
          <a:xfrm>
            <a:off x="8127797" y="4800600"/>
            <a:ext cx="3515258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042855" y="4800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accent1"/>
                </a:solidFill>
              </a:rPr>
              <a:t>۶</a:t>
            </a:r>
            <a:endParaRPr lang="fa-IR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8402117" y="4800600"/>
            <a:ext cx="1549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مرحله کنترلی</a:t>
            </a:r>
            <a:endParaRPr lang="fa-IR" sz="1400" dirty="0"/>
          </a:p>
        </p:txBody>
      </p:sp>
      <p:sp>
        <p:nvSpPr>
          <p:cNvPr id="37" name="stat 1"/>
          <p:cNvSpPr/>
          <p:nvPr/>
        </p:nvSpPr>
        <p:spPr>
          <a:xfrm>
            <a:off x="4338218" y="4800600"/>
            <a:ext cx="3515258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53277" y="4800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accent1"/>
                </a:solidFill>
              </a:rPr>
              <a:t>۳ ساعت</a:t>
            </a:r>
            <a:endParaRPr lang="fa-I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4612538" y="4800600"/>
            <a:ext cx="1549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آماده‌سازی پیش از شروع</a:t>
            </a:r>
            <a:endParaRPr lang="fa-IR" sz="1400" dirty="0"/>
          </a:p>
        </p:txBody>
      </p:sp>
      <p:sp>
        <p:nvSpPr>
          <p:cNvPr id="40" name="stat 2"/>
          <p:cNvSpPr/>
          <p:nvPr/>
        </p:nvSpPr>
        <p:spPr>
          <a:xfrm>
            <a:off x="548640" y="4800600"/>
            <a:ext cx="3515258" cy="9144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463698" y="4800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2400" b="1" dirty="0">
                <a:solidFill>
                  <a:schemeClr val="accent1"/>
                </a:solidFill>
              </a:rPr>
              <a:t>۱</a:t>
            </a:r>
            <a:endParaRPr lang="fa-IR" sz="24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800600"/>
            <a:ext cx="1549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400" dirty="0">
                <a:solidFill>
                  <a:schemeClr val="tx1"/>
                </a:solidFill>
              </a:rPr>
              <a:t>پاسخ‌گوی نهایی برای هر فعالیت</a:t>
            </a:r>
            <a:endParaRPr lang="fa-I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900" b="1" spc="200" kern="0" dirty="0">
                <a:solidFill>
                  <a:schemeClr val="accent2"/>
                </a:solidFill>
              </a:rPr>
              <a:t>TRUST EVENT  ·  MANAGEMENT DECK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347472"/>
            <a:ext cx="7985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3000" b="1" dirty="0">
                <a:solidFill>
                  <a:schemeClr val="bg1"/>
                </a:solidFill>
              </a:rPr>
              <a:t>تصمیم‌های موردنیاز و گام بعدی</a:t>
            </a:r>
            <a:endParaRPr lang="fa-IR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1417320"/>
            <a:ext cx="4967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500" b="1" dirty="0">
                <a:solidFill>
                  <a:schemeClr val="accent2"/>
                </a:solidFill>
              </a:rPr>
              <a:t>برای نهایی‌سازی برنامه، این موارد باید تعیین شوند:</a:t>
            </a:r>
            <a:endParaRPr lang="fa-IR" sz="1500" dirty="0"/>
          </a:p>
        </p:txBody>
      </p:sp>
      <p:sp>
        <p:nvSpPr>
          <p:cNvPr id="5" name="Shape 3"/>
          <p:cNvSpPr/>
          <p:nvPr/>
        </p:nvSpPr>
        <p:spPr>
          <a:xfrm>
            <a:off x="11295583" y="1975104"/>
            <a:ext cx="310896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0" y="1920240"/>
            <a:ext cx="4419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تاریخ، ساعت شروع و پایان</a:t>
            </a:r>
            <a:endParaRPr lang="fa-IR" sz="1500" dirty="0"/>
          </a:p>
        </p:txBody>
      </p:sp>
      <p:sp>
        <p:nvSpPr>
          <p:cNvPr id="7" name="Shape 5"/>
          <p:cNvSpPr/>
          <p:nvPr/>
        </p:nvSpPr>
        <p:spPr>
          <a:xfrm>
            <a:off x="11295583" y="2487168"/>
            <a:ext cx="310896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2432304"/>
            <a:ext cx="4419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تعداد قطعی مهمانان و عوامل</a:t>
            </a:r>
            <a:endParaRPr lang="fa-IR" sz="1500" dirty="0"/>
          </a:p>
        </p:txBody>
      </p:sp>
      <p:sp>
        <p:nvSpPr>
          <p:cNvPr id="9" name="Shape 7"/>
          <p:cNvSpPr/>
          <p:nvPr/>
        </p:nvSpPr>
        <p:spPr>
          <a:xfrm>
            <a:off x="11295583" y="2999232"/>
            <a:ext cx="310896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944368"/>
            <a:ext cx="4419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ساختار محتوا، سخنرانان و مجری</a:t>
            </a:r>
            <a:endParaRPr lang="fa-IR" sz="1500" dirty="0"/>
          </a:p>
        </p:txBody>
      </p:sp>
      <p:sp>
        <p:nvSpPr>
          <p:cNvPr id="11" name="Shape 9"/>
          <p:cNvSpPr/>
          <p:nvPr/>
        </p:nvSpPr>
        <p:spPr>
          <a:xfrm>
            <a:off x="11295583" y="3511296"/>
            <a:ext cx="310896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3456432"/>
            <a:ext cx="4419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بودجه و سطح پذیرایی</a:t>
            </a:r>
            <a:endParaRPr lang="fa-IR" sz="1500" dirty="0"/>
          </a:p>
        </p:txBody>
      </p:sp>
      <p:sp>
        <p:nvSpPr>
          <p:cNvPr id="13" name="Shape 11"/>
          <p:cNvSpPr/>
          <p:nvPr/>
        </p:nvSpPr>
        <p:spPr>
          <a:xfrm>
            <a:off x="11295583" y="4023360"/>
            <a:ext cx="310896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3968496"/>
            <a:ext cx="4419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نقشه سالن، امکانات و محدودیت‌های لوکیشن</a:t>
            </a:r>
            <a:endParaRPr lang="fa-IR" sz="1500" dirty="0"/>
          </a:p>
        </p:txBody>
      </p:sp>
      <p:sp>
        <p:nvSpPr>
          <p:cNvPr id="15" name="Shape 13"/>
          <p:cNvSpPr/>
          <p:nvPr/>
        </p:nvSpPr>
        <p:spPr>
          <a:xfrm>
            <a:off x="11295583" y="4535424"/>
            <a:ext cx="310896" cy="310896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480560"/>
            <a:ext cx="44192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fa-IR" altLang="en-US" sz="1500" dirty="0">
                <a:solidFill>
                  <a:schemeClr val="bg1"/>
                </a:solidFill>
              </a:rPr>
              <a:t>مسیر تأیید و حدود اختیار مدیر اجرا</a:t>
            </a:r>
            <a:endParaRPr lang="fa-IR" sz="1500" dirty="0"/>
          </a:p>
        </p:txBody>
      </p:sp>
      <p:sp>
        <p:nvSpPr>
          <p:cNvPr id="17" name="step 1"/>
          <p:cNvSpPr/>
          <p:nvPr/>
        </p:nvSpPr>
        <p:spPr>
          <a:xfrm>
            <a:off x="548640" y="1417320"/>
            <a:ext cx="5669280" cy="1005840"/>
          </a:xfrm>
          <a:prstGeom prst="roundRect">
            <a:avLst>
              <a:gd name="adj" fmla="val 10909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16002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035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۱</a:t>
            </a:r>
            <a:endParaRPr lang="fa-IR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15544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bg1"/>
                </a:solidFill>
              </a:rPr>
              <a:t>تثبیت اطلاعات</a:t>
            </a:r>
            <a:endParaRPr lang="fa-IR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19476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AFC0CE"/>
                </a:solidFill>
              </a:rPr>
              <a:t>دریافت ورودی‌های قطعی از کارفرما و تیم محتوا</a:t>
            </a:r>
            <a:endParaRPr lang="fa-IR" sz="1300" dirty="0"/>
          </a:p>
        </p:txBody>
      </p:sp>
      <p:sp>
        <p:nvSpPr>
          <p:cNvPr id="22" name="step 2"/>
          <p:cNvSpPr/>
          <p:nvPr/>
        </p:nvSpPr>
        <p:spPr>
          <a:xfrm>
            <a:off x="548640" y="2606040"/>
            <a:ext cx="5669280" cy="1005840"/>
          </a:xfrm>
          <a:prstGeom prst="roundRect">
            <a:avLst>
              <a:gd name="adj" fmla="val 10909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27889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3035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۲</a:t>
            </a:r>
            <a:endParaRPr lang="fa-IR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2743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bg1"/>
                </a:solidFill>
              </a:rPr>
              <a:t>نهایی‌سازی اسناد</a:t>
            </a:r>
            <a:endParaRPr lang="fa-IR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31363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AFC0CE"/>
                </a:solidFill>
              </a:rPr>
              <a:t>تکمیل جرنی، کنداکتور، بودجه و چک‌لیست‌ها</a:t>
            </a:r>
            <a:endParaRPr lang="fa-IR" sz="1300" dirty="0"/>
          </a:p>
        </p:txBody>
      </p:sp>
      <p:sp>
        <p:nvSpPr>
          <p:cNvPr id="27" name="step 3"/>
          <p:cNvSpPr/>
          <p:nvPr/>
        </p:nvSpPr>
        <p:spPr>
          <a:xfrm>
            <a:off x="548640" y="3794760"/>
            <a:ext cx="5669280" cy="1005840"/>
          </a:xfrm>
          <a:prstGeom prst="roundRect">
            <a:avLst>
              <a:gd name="adj" fmla="val 10909"/>
            </a:avLst>
          </a:prstGeom>
          <a:solidFill>
            <a:schemeClr val="bg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77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30352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۳</a:t>
            </a:r>
            <a:endParaRPr lang="fa-IR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931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700" b="1" dirty="0">
                <a:solidFill>
                  <a:schemeClr val="bg1"/>
                </a:solidFill>
              </a:rPr>
              <a:t>جلسه هماهنگی</a:t>
            </a:r>
            <a:endParaRPr lang="fa-IR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3251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1300" dirty="0">
                <a:solidFill>
                  <a:srgbClr val="AFC0CE"/>
                </a:solidFill>
              </a:rPr>
              <a:t>مرور مسئولیت‌ها، ریسک‌ها و سناریوی روز اجرا</a:t>
            </a:r>
            <a:endParaRPr lang="fa-IR" sz="1300" dirty="0"/>
          </a:p>
        </p:txBody>
      </p:sp>
      <p:sp>
        <p:nvSpPr>
          <p:cNvPr id="32" name="expected output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5321808"/>
            <a:ext cx="384048" cy="384048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822960" y="5120640"/>
            <a:ext cx="99971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fa-IR" altLang="en-US" sz="1600" b="1" dirty="0">
                <a:solidFill>
                  <a:schemeClr val="tx2"/>
                </a:solidFill>
              </a:rPr>
              <a:t>خروجی مورد انتظار:  </a:t>
            </a:r>
            <a:pPr algn="r" indent="0" marL="0">
              <a:buNone/>
            </a:pPr>
            <a:r>
              <a:rPr lang="fa-IR" altLang="en-US" sz="1600" dirty="0">
                <a:solidFill>
                  <a:schemeClr val="tx2"/>
                </a:solidFill>
              </a:rPr>
              <a:t>یک برنامه واحد، قابل‌اندازه‌گیری و قابل‌کنترل برای اجرای رویداد تراست</a:t>
            </a:r>
            <a:endParaRPr lang="fa-IR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4630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fa-IR" altLang="en-US" sz="900" dirty="0">
                <a:solidFill>
                  <a:srgbClr val="8FA3B5"/>
                </a:solidFill>
              </a:rPr>
              <a:t>پیشنهاد: پس از دریافت لوگو / پوستر / تمپلیت تراست، رنگ، فونت و عناصر گرافیکی این فایل با هویت رسمی رویداد جایگزین شود</a:t>
            </a:r>
            <a:endParaRPr lang="fa-IR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st Event">
  <a:themeElements>
    <a:clrScheme name="Trust Event">
      <a:dk1>
        <a:srgbClr val="1B2433"/>
      </a:dk1>
      <a:lt1>
        <a:srgbClr val="FFFFFF"/>
      </a:lt1>
      <a:dk2>
        <a:srgbClr val="0F2433"/>
      </a:dk2>
      <a:lt2>
        <a:srgbClr val="F2F4F7"/>
      </a:lt2>
      <a:accent1>
        <a:srgbClr val="1D6B73"/>
      </a:accent1>
      <a:accent2>
        <a:srgbClr val="C79A3E"/>
      </a:accent2>
      <a:accent3>
        <a:srgbClr val="5E7387"/>
      </a:accent3>
      <a:accent4>
        <a:srgbClr val="E6ECF1"/>
      </a:accent4>
      <a:accent5>
        <a:srgbClr val="B4533A"/>
      </a:accent5>
      <a:accent6>
        <a:srgbClr val="F7EEDB"/>
      </a:accent6>
      <a:hlink>
        <a:srgbClr val="1D6B73"/>
      </a:hlink>
      <a:folHlink>
        <a:srgbClr val="5E7387"/>
      </a:folHlink>
    </a:clrScheme>
    <a:fontScheme name="Trust Event">
      <a:majorFont>
        <a:latin typeface="Vazirmatn"/>
        <a:ea typeface=""/>
        <a:cs typeface="Vazirmatn"/>
        <a:font script="Jpan" typeface="游ゴシック Light"/>
        <a:font script="Hang" typeface="맑은 고딕"/>
        <a:font script="Hans" typeface="等线 Light"/>
        <a:font script="Hant" typeface="新細明體"/>
        <a:font script="Arab" typeface="Vazirmat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Vazirmatn"/>
        <a:font script="Jpan" typeface="游ゴシック"/>
        <a:font script="Hang" typeface="맑은 고딕"/>
        <a:font script="Hans" typeface="等线"/>
        <a:font script="Hant" typeface="新細明體"/>
        <a:font script="Arab" typeface="Vazirmatn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طرح مدیریتی و نقشه اجرای رویداد تراست</dc:title>
  <dc:subject>PptxGenJS Presentation</dc:subject>
  <dc:creator>Trust Event Team</dc:creator>
  <cp:lastModifiedBy>Trust Event Team</cp:lastModifiedBy>
  <cp:revision>1</cp:revision>
  <dcterms:created xsi:type="dcterms:W3CDTF">2026-10-31T06:50:39Z</dcterms:created>
  <dcterms:modified xsi:type="dcterms:W3CDTF">2026-10-31T06:50:39Z</dcterms:modified>
</cp:coreProperties>
</file>